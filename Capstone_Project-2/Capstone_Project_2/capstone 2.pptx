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70"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09A77-C147-B1FD-9139-EB477AE9EB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CBA19F-0083-1537-7C08-A7B8019105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050F3E-70C8-A1C4-780D-DDE7F281F72E}"/>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5" name="Footer Placeholder 4">
            <a:extLst>
              <a:ext uri="{FF2B5EF4-FFF2-40B4-BE49-F238E27FC236}">
                <a16:creationId xmlns:a16="http://schemas.microsoft.com/office/drawing/2014/main" id="{A2BE0DE3-9265-B96A-8815-DE48359930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1751EB-682B-99D5-DA14-E60C3C0A3C54}"/>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3021318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541E3-8037-BE6F-B4A6-E4AB74EF88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18E225-010E-9DA0-5068-EF2FDE4BB8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1C5DE6-FACD-C94A-C67C-4F3372796F6D}"/>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5" name="Footer Placeholder 4">
            <a:extLst>
              <a:ext uri="{FF2B5EF4-FFF2-40B4-BE49-F238E27FC236}">
                <a16:creationId xmlns:a16="http://schemas.microsoft.com/office/drawing/2014/main" id="{97FA9AF5-A13F-F886-06FA-642B576616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E1A9BC-F27B-3E53-939A-56320E5C5739}"/>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159427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9CB12-4B71-1B8C-157D-A08C82D65D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044F063-D2D2-E105-A3B7-01584DD6C1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23032D-B4B8-4443-74CA-67A9BD194954}"/>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5" name="Footer Placeholder 4">
            <a:extLst>
              <a:ext uri="{FF2B5EF4-FFF2-40B4-BE49-F238E27FC236}">
                <a16:creationId xmlns:a16="http://schemas.microsoft.com/office/drawing/2014/main" id="{B133E9BF-FF3F-E542-5D96-3B0C09B13C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EB6A5A-91F8-A719-8F8B-4FE27B8CC4F1}"/>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679491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29050-05BA-7DCC-C39A-DADD06EA5C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47671E-44E3-2F08-1351-9C6F00D02A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E8C00F-96DA-0446-68FF-ED97436030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973387-363F-10E0-74F1-73AA39F4A396}"/>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6" name="Footer Placeholder 5">
            <a:extLst>
              <a:ext uri="{FF2B5EF4-FFF2-40B4-BE49-F238E27FC236}">
                <a16:creationId xmlns:a16="http://schemas.microsoft.com/office/drawing/2014/main" id="{2E350D7A-4C6A-5C34-6F4E-EA32BBA889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0BB4A7-2563-030C-7382-77A591B26D71}"/>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932385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85F14-BFAE-2884-D8ED-B9A1084E38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43364A-20D8-809B-09A1-C795CABE00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20A4D6-7230-3EDF-6116-7C38F0DE01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D9A00F-F31C-00D6-744B-C8BE28FA92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820348-330B-C957-4621-698C7F6671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A60C0B5-CF6A-D09B-6FC4-341C29CC12F0}"/>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8" name="Footer Placeholder 7">
            <a:extLst>
              <a:ext uri="{FF2B5EF4-FFF2-40B4-BE49-F238E27FC236}">
                <a16:creationId xmlns:a16="http://schemas.microsoft.com/office/drawing/2014/main" id="{0EBB677E-2EDC-D67B-965B-13E43B34047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102C4D-0725-2168-A8D1-EB4B42BCDDAA}"/>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2905956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5A779-C0F8-6C60-F2F8-9DCE921965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EF66D3-8187-7C65-BA62-FAE7B163DF97}"/>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4" name="Footer Placeholder 3">
            <a:extLst>
              <a:ext uri="{FF2B5EF4-FFF2-40B4-BE49-F238E27FC236}">
                <a16:creationId xmlns:a16="http://schemas.microsoft.com/office/drawing/2014/main" id="{EF347678-40F1-EFBF-1C71-A7A1545421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8FFA58E-669B-7F79-7B54-7FAE8499FB2F}"/>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350409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ADF934-12F7-97E9-7DB0-6E41F5F0D090}"/>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3" name="Footer Placeholder 2">
            <a:extLst>
              <a:ext uri="{FF2B5EF4-FFF2-40B4-BE49-F238E27FC236}">
                <a16:creationId xmlns:a16="http://schemas.microsoft.com/office/drawing/2014/main" id="{E860BF61-B1D3-B818-3766-3A576D04D2D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007C1CE-5369-E3F3-4DC6-551292B70C68}"/>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852356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E6C33-FB1A-5898-4598-CAD44AA26C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13720A-DC75-A0EB-1D78-D3EAEFDCD7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8DF845-1430-5890-AF76-C2330BECB0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985CC5-2E09-A7DE-798B-C4E4E3EC0C8B}"/>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6" name="Footer Placeholder 5">
            <a:extLst>
              <a:ext uri="{FF2B5EF4-FFF2-40B4-BE49-F238E27FC236}">
                <a16:creationId xmlns:a16="http://schemas.microsoft.com/office/drawing/2014/main" id="{EB395BBA-E803-C778-97E4-011316C708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3BBFA0-1334-BA7E-6156-3A7CA53BEE3E}"/>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3181874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F0B11-2D62-B2E6-D640-19F1FC3AC3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2CAB0D-F8FA-839C-CC4F-55DD4BAF34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393718-A932-F370-6181-75A272F5B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B06EBB-ED6C-D9F9-7326-60C43DFF6B6F}"/>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6" name="Footer Placeholder 5">
            <a:extLst>
              <a:ext uri="{FF2B5EF4-FFF2-40B4-BE49-F238E27FC236}">
                <a16:creationId xmlns:a16="http://schemas.microsoft.com/office/drawing/2014/main" id="{50A6B0BD-2F76-7FE9-9400-176707973C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096AA4-C81C-744B-DAA3-7CD69DC6E186}"/>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431536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A3428-02E5-4908-BCC7-84B133D0FB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9ACC2CC-6EAF-B25A-B38C-2A090E9B05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B56641-3EAF-97BB-A494-B0FCFB857BD5}"/>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5" name="Footer Placeholder 4">
            <a:extLst>
              <a:ext uri="{FF2B5EF4-FFF2-40B4-BE49-F238E27FC236}">
                <a16:creationId xmlns:a16="http://schemas.microsoft.com/office/drawing/2014/main" id="{E003B72D-E111-52F6-6D73-B32E32E096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48005E-481A-85BA-C998-22676C4D2EA3}"/>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305189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241D97-28E8-9CD1-9CF8-99D1DE81B8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6AD63C-27FB-ADA2-4B93-78716C6D12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3B263C-3687-6024-3C83-5B74203D759F}"/>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5" name="Footer Placeholder 4">
            <a:extLst>
              <a:ext uri="{FF2B5EF4-FFF2-40B4-BE49-F238E27FC236}">
                <a16:creationId xmlns:a16="http://schemas.microsoft.com/office/drawing/2014/main" id="{705DF7E9-248A-526B-B15E-6F04D6DBB2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ECCC18-39D6-152F-88FE-0CAF7390C488}"/>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21497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CE4823-32C6-7967-7053-331734FFCA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055076-9E0C-8358-1357-67060CF942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2856AD-F11E-3678-EF5D-91E665F1CB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279106-F635-453E-8BA0-E6B668AF8050}" type="datetimeFigureOut">
              <a:rPr lang="en-IN" smtClean="0"/>
              <a:t>29-10-2025</a:t>
            </a:fld>
            <a:endParaRPr lang="en-IN"/>
          </a:p>
        </p:txBody>
      </p:sp>
      <p:sp>
        <p:nvSpPr>
          <p:cNvPr id="5" name="Footer Placeholder 4">
            <a:extLst>
              <a:ext uri="{FF2B5EF4-FFF2-40B4-BE49-F238E27FC236}">
                <a16:creationId xmlns:a16="http://schemas.microsoft.com/office/drawing/2014/main" id="{C339D20A-5A27-0BD5-E9C9-75DBD442EF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C385303-2260-B5AB-F87B-69EDC90F21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447402-4F5F-4B9C-AAE0-313DFBBA3223}" type="slidenum">
              <a:rPr lang="en-IN" smtClean="0"/>
              <a:t>‹#›</a:t>
            </a:fld>
            <a:endParaRPr lang="en-IN"/>
          </a:p>
        </p:txBody>
      </p:sp>
    </p:spTree>
    <p:extLst>
      <p:ext uri="{BB962C8B-B14F-4D97-AF65-F5344CB8AC3E}">
        <p14:creationId xmlns:p14="http://schemas.microsoft.com/office/powerpoint/2010/main" val="1231965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6A89-72E0-CD64-0D89-F587402ACA62}"/>
              </a:ext>
            </a:extLst>
          </p:cNvPr>
          <p:cNvSpPr>
            <a:spLocks noGrp="1"/>
          </p:cNvSpPr>
          <p:nvPr>
            <p:ph type="ctrTitle"/>
          </p:nvPr>
        </p:nvSpPr>
        <p:spPr>
          <a:xfrm>
            <a:off x="1524000" y="2144487"/>
            <a:ext cx="9144000" cy="1654627"/>
          </a:xfrm>
        </p:spPr>
        <p:txBody>
          <a:bodyPr>
            <a:noAutofit/>
          </a:bodyPr>
          <a:lstStyle/>
          <a:p>
            <a:pPr>
              <a:lnSpc>
                <a:spcPct val="200000"/>
              </a:lnSpc>
            </a:pP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r>
              <a:rPr lang="en-US" sz="4400" b="1" dirty="0">
                <a:solidFill>
                  <a:srgbClr val="0C3571"/>
                </a:solidFill>
                <a:latin typeface="Times New Roman" panose="02020603050405020304" pitchFamily="18" charset="0"/>
                <a:ea typeface="Anantason Bold"/>
                <a:cs typeface="Times New Roman" panose="02020603050405020304" pitchFamily="18" charset="0"/>
                <a:sym typeface="Anantason Bold"/>
              </a:rPr>
              <a:t>Capstone Project2</a:t>
            </a:r>
            <a:br>
              <a:rPr lang="en-US" sz="4400" b="1" dirty="0">
                <a:solidFill>
                  <a:srgbClr val="0C3571"/>
                </a:solidFill>
                <a:latin typeface="Times New Roman" panose="02020603050405020304" pitchFamily="18" charset="0"/>
                <a:ea typeface="Anantason Bold"/>
                <a:cs typeface="Times New Roman" panose="02020603050405020304" pitchFamily="18" charset="0"/>
                <a:sym typeface="Anantason Bold"/>
              </a:rPr>
            </a:br>
            <a:r>
              <a:rPr lang="en-IN" sz="2000" dirty="0">
                <a:solidFill>
                  <a:schemeClr val="accent1">
                    <a:lumMod val="75000"/>
                  </a:schemeClr>
                </a:solidFill>
                <a:latin typeface="Times New Roman" panose="02020603050405020304" pitchFamily="18" charset="0"/>
                <a:cs typeface="Times New Roman" panose="02020603050405020304" pitchFamily="18" charset="0"/>
              </a:rPr>
              <a:t>HEART DISEASE DETECTION USING CLASSIFICATION ALGORITHMS</a:t>
            </a:r>
            <a:br>
              <a:rPr lang="en-US" sz="1400" b="1" dirty="0">
                <a:solidFill>
                  <a:srgbClr val="0C3571"/>
                </a:solidFill>
                <a:latin typeface="Anantason Bold"/>
                <a:ea typeface="Anantason Bold"/>
                <a:cs typeface="Anantason Bold"/>
                <a:sym typeface="Anantason Bold"/>
              </a:rPr>
            </a:br>
            <a:endParaRPr lang="en-IN" sz="1400" dirty="0"/>
          </a:p>
        </p:txBody>
      </p:sp>
      <p:sp>
        <p:nvSpPr>
          <p:cNvPr id="4" name="TextBox 3">
            <a:extLst>
              <a:ext uri="{FF2B5EF4-FFF2-40B4-BE49-F238E27FC236}">
                <a16:creationId xmlns:a16="http://schemas.microsoft.com/office/drawing/2014/main" id="{B41FCD4F-364D-74AE-4D1A-A3A2E5DC4AED}"/>
              </a:ext>
            </a:extLst>
          </p:cNvPr>
          <p:cNvSpPr txBox="1"/>
          <p:nvPr/>
        </p:nvSpPr>
        <p:spPr>
          <a:xfrm>
            <a:off x="7482699" y="4372896"/>
            <a:ext cx="4125685" cy="1477328"/>
          </a:xfrm>
          <a:prstGeom prst="rect">
            <a:avLst/>
          </a:prstGeom>
          <a:noFill/>
        </p:spPr>
        <p:txBody>
          <a:bodyPr wrap="square" rtlCol="0">
            <a:spAutoFit/>
          </a:bodyPr>
          <a:lstStyle/>
          <a:p>
            <a:r>
              <a:rPr lang="en-IN" dirty="0">
                <a:solidFill>
                  <a:schemeClr val="accent1">
                    <a:lumMod val="75000"/>
                  </a:schemeClr>
                </a:solidFill>
                <a:latin typeface="Times New Roman" panose="02020603050405020304" pitchFamily="18" charset="0"/>
                <a:cs typeface="Times New Roman" panose="02020603050405020304" pitchFamily="18" charset="0"/>
              </a:rPr>
              <a:t>Team Members</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T120100204: DINESH S</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T120100205: SRUJAN S D</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T120100206: SUDARSHAN</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T120100207: DINESH G</a:t>
            </a:r>
          </a:p>
        </p:txBody>
      </p:sp>
      <p:pic>
        <p:nvPicPr>
          <p:cNvPr id="5" name="Picture 4">
            <a:extLst>
              <a:ext uri="{FF2B5EF4-FFF2-40B4-BE49-F238E27FC236}">
                <a16:creationId xmlns:a16="http://schemas.microsoft.com/office/drawing/2014/main" id="{BE254B8B-72EC-ABF6-5764-F09EC47A123F}"/>
              </a:ext>
            </a:extLst>
          </p:cNvPr>
          <p:cNvPicPr>
            <a:picLocks noChangeAspect="1"/>
          </p:cNvPicPr>
          <p:nvPr/>
        </p:nvPicPr>
        <p:blipFill>
          <a:blip r:embed="rId2"/>
          <a:stretch>
            <a:fillRect/>
          </a:stretch>
        </p:blipFill>
        <p:spPr>
          <a:xfrm>
            <a:off x="10232571" y="304800"/>
            <a:ext cx="1578429" cy="1055914"/>
          </a:xfrm>
          <a:prstGeom prst="rect">
            <a:avLst/>
          </a:prstGeom>
        </p:spPr>
      </p:pic>
    </p:spTree>
    <p:extLst>
      <p:ext uri="{BB962C8B-B14F-4D97-AF65-F5344CB8AC3E}">
        <p14:creationId xmlns:p14="http://schemas.microsoft.com/office/powerpoint/2010/main" val="2979999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F4FF4-00BA-A1C5-E0CC-38FA5B53AD4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1916FD-ED1C-0F78-2F73-11D99106FDA9}"/>
              </a:ext>
            </a:extLst>
          </p:cNvPr>
          <p:cNvSpPr txBox="1"/>
          <p:nvPr/>
        </p:nvSpPr>
        <p:spPr>
          <a:xfrm>
            <a:off x="925286" y="566057"/>
            <a:ext cx="10417628" cy="5570756"/>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Table of Contents</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Overview of the Project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generation &amp; Loading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Exploration &amp; Understanding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Exploratory Data Analysis</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Preprocessing &amp; Feature Engineering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Model Building &amp; Training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Model Evaluation &amp; Performance Analysis</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Stream API Deployment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74F2C56-1EF1-7471-9A81-2F481FC85A30}"/>
              </a:ext>
            </a:extLst>
          </p:cNvPr>
          <p:cNvPicPr>
            <a:picLocks noChangeAspect="1"/>
          </p:cNvPicPr>
          <p:nvPr/>
        </p:nvPicPr>
        <p:blipFill>
          <a:blip r:embed="rId2"/>
          <a:stretch>
            <a:fillRect/>
          </a:stretch>
        </p:blipFill>
        <p:spPr>
          <a:xfrm>
            <a:off x="10232571" y="304800"/>
            <a:ext cx="1578429" cy="1055914"/>
          </a:xfrm>
          <a:prstGeom prst="rect">
            <a:avLst/>
          </a:prstGeom>
        </p:spPr>
      </p:pic>
    </p:spTree>
    <p:extLst>
      <p:ext uri="{BB962C8B-B14F-4D97-AF65-F5344CB8AC3E}">
        <p14:creationId xmlns:p14="http://schemas.microsoft.com/office/powerpoint/2010/main" val="421595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C7E26-275E-FD8A-6700-CDFB83B7B8F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2EA81C3-AF1D-1FF4-FB6B-3C7CE9321376}"/>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Problem Statement</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E151BB3-6F53-C93A-8ACC-EB2AFC126013}"/>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68D4C91A-319F-FF00-85A7-302190B0292B}"/>
              </a:ext>
            </a:extLst>
          </p:cNvPr>
          <p:cNvSpPr txBox="1"/>
          <p:nvPr/>
        </p:nvSpPr>
        <p:spPr>
          <a:xfrm>
            <a:off x="580103" y="2045110"/>
            <a:ext cx="10540181" cy="255454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Heart disease is one of the leading causes of death worldwide. Early and accurate detection through diagnostic screening can significantly improve patient survival rates and reduce healthcare costs.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project aims to build machine learning models that predict the presence of heart disease based on patients’ demographic, clinical, and diagnostic test data, enabling healthcare professionals to make timely and informed decisions.</a:t>
            </a:r>
          </a:p>
          <a:p>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5569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40222-4B3F-8348-FF0E-2F10D5B435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5E0FF65-D2D1-64FB-1F01-1A07C63DDF2A}"/>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Overview of the Project</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5C55AB4-477C-5915-6F5B-EDB076153EC4}"/>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590122EA-CBA6-E730-7E4F-3971B64715D1}"/>
              </a:ext>
            </a:extLst>
          </p:cNvPr>
          <p:cNvSpPr txBox="1"/>
          <p:nvPr/>
        </p:nvSpPr>
        <p:spPr>
          <a:xfrm>
            <a:off x="849086" y="1621971"/>
            <a:ext cx="10235381" cy="5940088"/>
          </a:xfrm>
          <a:prstGeom prst="rect">
            <a:avLst/>
          </a:prstGeom>
          <a:noFill/>
        </p:spPr>
        <p:txBody>
          <a:bodyPr wrap="square" rtlCol="0">
            <a:spAutoFit/>
          </a:bodyPr>
          <a:lstStyle/>
          <a:p>
            <a:pPr fontAlgn="base"/>
            <a:r>
              <a:rPr lang="en-US" sz="2000" b="1" dirty="0">
                <a:latin typeface="Times New Roman" panose="02020603050405020304" pitchFamily="18" charset="0"/>
                <a:cs typeface="Times New Roman" panose="02020603050405020304" pitchFamily="18" charset="0"/>
              </a:rPr>
              <a:t>Objective:</a:t>
            </a:r>
          </a:p>
          <a:p>
            <a:pPr fontAlgn="base"/>
            <a:r>
              <a:rPr lang="en-US" sz="2000" dirty="0">
                <a:latin typeface="Times New Roman" panose="02020603050405020304" pitchFamily="18" charset="0"/>
                <a:cs typeface="Times New Roman" panose="02020603050405020304" pitchFamily="18" charset="0"/>
              </a:rPr>
              <a:t>Develop a machine learning model to predict heart disease risk and provide insights for early diagnosis and prevention.</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Approach:</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Patient data was collected from publicly available medical datasets representing real-world health conditions.</a:t>
            </a:r>
          </a:p>
          <a:p>
            <a:pPr marL="457200" indent="-457200">
              <a:buFont typeface="+mj-lt"/>
              <a:buAutoNum type="arabicPeriod"/>
            </a:pPr>
            <a:r>
              <a:rPr lang="en-US" sz="2000" b="1" dirty="0">
                <a:latin typeface="Times New Roman" panose="02020603050405020304" pitchFamily="18" charset="0"/>
                <a:cs typeface="Times New Roman" panose="02020603050405020304" pitchFamily="18" charset="0"/>
              </a:rPr>
              <a:t>Exploratory Data Analysis (EDA)</a:t>
            </a:r>
            <a:r>
              <a:rPr lang="en-US" sz="2000" dirty="0">
                <a:latin typeface="Times New Roman" panose="02020603050405020304" pitchFamily="18" charset="0"/>
                <a:cs typeface="Times New Roman" panose="02020603050405020304" pitchFamily="18" charset="0"/>
              </a:rPr>
              <a:t> was conducted to uncover patterns, correlations, and influential health factors.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Features were cleaned, encoded, and scaled to improve model interpretability and accuracy.</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Multiple machine learning algorithms — </a:t>
            </a:r>
            <a:r>
              <a:rPr lang="en-US" sz="2000" b="1" dirty="0">
                <a:latin typeface="Times New Roman" panose="02020603050405020304" pitchFamily="18" charset="0"/>
                <a:cs typeface="Times New Roman" panose="02020603050405020304" pitchFamily="18" charset="0"/>
              </a:rPr>
              <a:t>Decision Tree, Random Forest, Logistic Regression, and SVM</a:t>
            </a:r>
            <a:r>
              <a:rPr lang="en-US" sz="2000" dirty="0">
                <a:latin typeface="Times New Roman" panose="02020603050405020304" pitchFamily="18" charset="0"/>
                <a:cs typeface="Times New Roman" panose="02020603050405020304" pitchFamily="18" charset="0"/>
              </a:rPr>
              <a:t> — were trained and compared.</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Random Forest model</a:t>
            </a:r>
            <a:r>
              <a:rPr lang="en-US" sz="2000" dirty="0">
                <a:latin typeface="Times New Roman" panose="02020603050405020304" pitchFamily="18" charset="0"/>
                <a:cs typeface="Times New Roman" panose="02020603050405020304" pitchFamily="18" charset="0"/>
              </a:rPr>
              <a:t> achieved the best performance, identifying key predictors such as chest pain type, ST depression, and max heart rate.</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Finally, the model was </a:t>
            </a:r>
            <a:r>
              <a:rPr lang="en-US" sz="2000" b="1" dirty="0">
                <a:latin typeface="Times New Roman" panose="02020603050405020304" pitchFamily="18" charset="0"/>
                <a:cs typeface="Times New Roman" panose="02020603050405020304" pitchFamily="18" charset="0"/>
              </a:rPr>
              <a:t>deployed using Flask API, </a:t>
            </a:r>
            <a:r>
              <a:rPr lang="en-US" sz="2000" b="1" dirty="0" err="1">
                <a:latin typeface="Times New Roman" panose="02020603050405020304" pitchFamily="18" charset="0"/>
                <a:cs typeface="Times New Roman" panose="02020603050405020304" pitchFamily="18" charset="0"/>
              </a:rPr>
              <a:t>Streamlit</a:t>
            </a:r>
            <a:r>
              <a:rPr lang="en-US" sz="2000" b="1" dirty="0">
                <a:latin typeface="Times New Roman" panose="02020603050405020304" pitchFamily="18" charset="0"/>
                <a:cs typeface="Times New Roman" panose="02020603050405020304" pitchFamily="18" charset="0"/>
              </a:rPr>
              <a:t> interface, and Docker</a:t>
            </a:r>
            <a:r>
              <a:rPr lang="en-US" sz="2000" dirty="0">
                <a:latin typeface="Times New Roman" panose="02020603050405020304" pitchFamily="18" charset="0"/>
                <a:cs typeface="Times New Roman" panose="02020603050405020304" pitchFamily="18" charset="0"/>
              </a:rPr>
              <a:t> for real-time prediction and accessibility.</a:t>
            </a:r>
          </a:p>
          <a:p>
            <a:pPr fontAlgn="base"/>
            <a:endParaRPr lang="en-US" sz="2000" dirty="0">
              <a:latin typeface="Times New Roman" panose="02020603050405020304" pitchFamily="18" charset="0"/>
              <a:cs typeface="Times New Roman" panose="02020603050405020304" pitchFamily="18" charset="0"/>
            </a:endParaRPr>
          </a:p>
          <a:p>
            <a:pPr fontAlgn="base"/>
            <a:br>
              <a:rPr lang="en-US" sz="2000" dirty="0"/>
            </a:br>
            <a:endParaRPr lang="en-IN" sz="2000" dirty="0"/>
          </a:p>
        </p:txBody>
      </p:sp>
    </p:spTree>
    <p:extLst>
      <p:ext uri="{BB962C8B-B14F-4D97-AF65-F5344CB8AC3E}">
        <p14:creationId xmlns:p14="http://schemas.microsoft.com/office/powerpoint/2010/main" val="3576584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7BD52-ED36-EA0E-90C9-7CF17BE5B41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9A49387-6A50-6351-7188-762CE09BB55B}"/>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Data generation &amp; Loading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243245C-D953-4580-E659-59C320CAE09E}"/>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01382710-714B-D41E-D61F-0CCC880991C4}"/>
              </a:ext>
            </a:extLst>
          </p:cNvPr>
          <p:cNvSpPr txBox="1"/>
          <p:nvPr/>
        </p:nvSpPr>
        <p:spPr>
          <a:xfrm>
            <a:off x="776748" y="2251587"/>
            <a:ext cx="10923639" cy="2554545"/>
          </a:xfrm>
          <a:prstGeom prst="rect">
            <a:avLst/>
          </a:prstGeom>
          <a:noFill/>
        </p:spPr>
        <p:txBody>
          <a:bodyPr wrap="square" rtlCol="0">
            <a:spAutoFit/>
          </a:bodyPr>
          <a:lstStyle/>
          <a:p>
            <a:pPr fontAlgn="base"/>
            <a:r>
              <a:rPr lang="en-US" sz="2000" dirty="0">
                <a:latin typeface="Times New Roman" panose="02020603050405020304" pitchFamily="18" charset="0"/>
                <a:cs typeface="Times New Roman" panose="02020603050405020304" pitchFamily="18" charset="0"/>
              </a:rPr>
              <a:t>Dataset Source: The project uses the </a:t>
            </a:r>
            <a:r>
              <a:rPr lang="en-US" sz="2000" b="1" dirty="0" err="1">
                <a:latin typeface="Times New Roman" panose="02020603050405020304" pitchFamily="18" charset="0"/>
                <a:cs typeface="Times New Roman" panose="02020603050405020304" pitchFamily="18" charset="0"/>
              </a:rPr>
              <a:t>heart_disease_dataset</a:t>
            </a:r>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Initial Data Loading: The dataset was loaded using the Pandas library in Python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df</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pd.read_csv</a:t>
            </a:r>
            <a:r>
              <a:rPr lang="en-US" sz="2000" dirty="0">
                <a:latin typeface="Times New Roman" panose="02020603050405020304" pitchFamily="18" charset="0"/>
                <a:cs typeface="Times New Roman" panose="02020603050405020304" pitchFamily="18" charset="0"/>
              </a:rPr>
              <a:t>("heart_disease_dataset.csv").</a:t>
            </a:r>
          </a:p>
          <a:p>
            <a:pPr fontAlgn="base"/>
            <a:r>
              <a:rPr lang="en-US" sz="2000" dirty="0">
                <a:latin typeface="Times New Roman" panose="02020603050405020304" pitchFamily="18" charset="0"/>
                <a:cs typeface="Times New Roman" panose="02020603050405020304" pitchFamily="18" charset="0"/>
              </a:rPr>
              <a:t>Dataset Dimensions:</a:t>
            </a:r>
          </a:p>
          <a:p>
            <a:pPr fontAlgn="base"/>
            <a:r>
              <a:rPr lang="en-US" sz="2000" dirty="0">
                <a:latin typeface="Times New Roman" panose="02020603050405020304" pitchFamily="18" charset="0"/>
                <a:cs typeface="Times New Roman" panose="02020603050405020304" pitchFamily="18" charset="0"/>
              </a:rPr>
              <a:t>The dataset contains </a:t>
            </a:r>
            <a:r>
              <a:rPr lang="en-US" sz="2000" b="1" dirty="0">
                <a:latin typeface="Times New Roman" panose="02020603050405020304" pitchFamily="18" charset="0"/>
                <a:cs typeface="Times New Roman" panose="02020603050405020304" pitchFamily="18" charset="0"/>
              </a:rPr>
              <a:t>400 records</a:t>
            </a:r>
            <a:r>
              <a:rPr lang="en-US" sz="2000" dirty="0">
                <a:latin typeface="Times New Roman" panose="02020603050405020304" pitchFamily="18" charset="0"/>
                <a:cs typeface="Times New Roman" panose="02020603050405020304" pitchFamily="18" charset="0"/>
              </a:rPr>
              <a:t> (rows).</a:t>
            </a:r>
          </a:p>
          <a:p>
            <a:pPr fontAlgn="base"/>
            <a:r>
              <a:rPr lang="en-US" sz="2000" dirty="0">
                <a:latin typeface="Times New Roman" panose="02020603050405020304" pitchFamily="18" charset="0"/>
                <a:cs typeface="Times New Roman" panose="02020603050405020304" pitchFamily="18" charset="0"/>
              </a:rPr>
              <a:t>It comprises </a:t>
            </a:r>
            <a:r>
              <a:rPr lang="en-US" sz="2000" b="1" dirty="0">
                <a:latin typeface="Times New Roman" panose="02020603050405020304" pitchFamily="18" charset="0"/>
                <a:cs typeface="Times New Roman" panose="02020603050405020304" pitchFamily="18" charset="0"/>
              </a:rPr>
              <a:t>14 columns</a:t>
            </a:r>
            <a:r>
              <a:rPr lang="en-US" sz="2000" dirty="0">
                <a:latin typeface="Times New Roman" panose="02020603050405020304" pitchFamily="18" charset="0"/>
                <a:cs typeface="Times New Roman" panose="02020603050405020304" pitchFamily="18" charset="0"/>
              </a:rPr>
              <a:t>: 13 predictive features and 1 target variable.</a:t>
            </a:r>
          </a:p>
          <a:p>
            <a:pPr fontAlgn="base"/>
            <a:r>
              <a:rPr lang="en-US" sz="2000" dirty="0">
                <a:latin typeface="Times New Roman" panose="02020603050405020304" pitchFamily="18" charset="0"/>
                <a:cs typeface="Times New Roman" panose="02020603050405020304" pitchFamily="18" charset="0"/>
              </a:rPr>
              <a:t>Target Variable: The variable to be predicted is </a:t>
            </a:r>
            <a:r>
              <a:rPr lang="en-US" sz="2000" b="1" dirty="0" err="1">
                <a:latin typeface="Times New Roman" panose="02020603050405020304" pitchFamily="18" charset="0"/>
                <a:cs typeface="Times New Roman" panose="02020603050405020304" pitchFamily="18" charset="0"/>
              </a:rPr>
              <a:t>heart_disease</a:t>
            </a:r>
            <a:r>
              <a:rPr lang="en-US" sz="2000" dirty="0">
                <a:latin typeface="Times New Roman" panose="02020603050405020304" pitchFamily="18" charset="0"/>
                <a:cs typeface="Times New Roman" panose="02020603050405020304" pitchFamily="18" charset="0"/>
              </a:rPr>
              <a:t>, which is a binary classification (0 = No Heart Disease, 1 = Heart Disease).</a:t>
            </a:r>
          </a:p>
        </p:txBody>
      </p:sp>
    </p:spTree>
    <p:extLst>
      <p:ext uri="{BB962C8B-B14F-4D97-AF65-F5344CB8AC3E}">
        <p14:creationId xmlns:p14="http://schemas.microsoft.com/office/powerpoint/2010/main" val="3806707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C9203-5CAF-C401-17FF-82A26B9F7A0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91DDD7F-8258-D3EF-27A7-7CE6861536D7}"/>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Data Exploration &amp; Understanding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85696F0-A230-4170-D65B-94252D73C17B}"/>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4DB134DD-CEA9-949B-D240-DFAAFD477308}"/>
              </a:ext>
            </a:extLst>
          </p:cNvPr>
          <p:cNvSpPr txBox="1"/>
          <p:nvPr/>
        </p:nvSpPr>
        <p:spPr>
          <a:xfrm>
            <a:off x="500835" y="2151727"/>
            <a:ext cx="6422921" cy="2862322"/>
          </a:xfrm>
          <a:prstGeom prst="rect">
            <a:avLst/>
          </a:prstGeom>
          <a:noFill/>
        </p:spPr>
        <p:txBody>
          <a:bodyPr wrap="square" rtlCol="0">
            <a:spAutoFit/>
          </a:bodyPr>
          <a:lstStyle/>
          <a:p>
            <a:pPr fontAlgn="base"/>
            <a:r>
              <a:rPr lang="en-US" sz="2000" dirty="0">
                <a:latin typeface="Times New Roman" panose="02020603050405020304" pitchFamily="18" charset="0"/>
                <a:cs typeface="Times New Roman" panose="02020603050405020304" pitchFamily="18" charset="0"/>
              </a:rPr>
              <a:t>Data Structure Confirmation:</a:t>
            </a:r>
          </a:p>
          <a:p>
            <a:pPr fontAlgn="base"/>
            <a:r>
              <a:rPr lang="en-US" sz="2000" dirty="0">
                <a:latin typeface="Times New Roman" panose="02020603050405020304" pitchFamily="18" charset="0"/>
                <a:cs typeface="Times New Roman" panose="02020603050405020304" pitchFamily="18" charset="0"/>
              </a:rPr>
              <a:t>Verified the dataset shape: </a:t>
            </a:r>
            <a:r>
              <a:rPr lang="en-US" sz="2000" b="1" dirty="0">
                <a:latin typeface="Times New Roman" panose="02020603050405020304" pitchFamily="18" charset="0"/>
                <a:cs typeface="Times New Roman" panose="02020603050405020304" pitchFamily="18" charset="0"/>
              </a:rPr>
              <a:t>400 rows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14 columns</a:t>
            </a:r>
            <a:r>
              <a:rPr lang="en-US" sz="2000" dirty="0">
                <a:latin typeface="Times New Roman" panose="02020603050405020304" pitchFamily="18" charset="0"/>
                <a:cs typeface="Times New Roman" panose="02020603050405020304" pitchFamily="18" charset="0"/>
              </a:rPr>
              <a:t> (13 features + 1 target).</a:t>
            </a:r>
          </a:p>
          <a:p>
            <a:pPr fontAlgn="base"/>
            <a:r>
              <a:rPr lang="en-US" sz="2000" dirty="0">
                <a:latin typeface="Times New Roman" panose="02020603050405020304" pitchFamily="18" charset="0"/>
                <a:cs typeface="Times New Roman" panose="02020603050405020304" pitchFamily="18" charset="0"/>
              </a:rPr>
              <a:t>Data Type Review:</a:t>
            </a:r>
          </a:p>
          <a:p>
            <a:pPr fontAlgn="base"/>
            <a:r>
              <a:rPr lang="en-US" sz="2000" dirty="0">
                <a:latin typeface="Times New Roman" panose="02020603050405020304" pitchFamily="18" charset="0"/>
                <a:cs typeface="Times New Roman" panose="02020603050405020304" pitchFamily="18" charset="0"/>
              </a:rPr>
              <a:t>Inspected column data types using “df.info()”.</a:t>
            </a:r>
          </a:p>
          <a:p>
            <a:pPr fontAlgn="base"/>
            <a:r>
              <a:rPr lang="en-US" sz="2000" dirty="0">
                <a:latin typeface="Times New Roman" panose="02020603050405020304" pitchFamily="18" charset="0"/>
                <a:cs typeface="Times New Roman" panose="02020603050405020304" pitchFamily="18" charset="0"/>
              </a:rPr>
              <a:t>Noted that most features are integers (int64) and floating-point number (float64)..</a:t>
            </a:r>
          </a:p>
          <a:p>
            <a:pPr fontAlgn="base"/>
            <a:r>
              <a:rPr lang="en-US" sz="2000" dirty="0">
                <a:latin typeface="Times New Roman" panose="02020603050405020304" pitchFamily="18" charset="0"/>
                <a:cs typeface="Times New Roman" panose="02020603050405020304" pitchFamily="18" charset="0"/>
              </a:rPr>
              <a:t>Checked the entire data  Descriptions using “</a:t>
            </a:r>
            <a:r>
              <a:rPr lang="en-US" sz="2000" dirty="0" err="1">
                <a:latin typeface="Times New Roman" panose="02020603050405020304" pitchFamily="18" charset="0"/>
                <a:cs typeface="Times New Roman" panose="02020603050405020304" pitchFamily="18" charset="0"/>
              </a:rPr>
              <a:t>df.describe</a:t>
            </a:r>
            <a:r>
              <a:rPr lang="en-US" sz="2000" dirty="0">
                <a:latin typeface="Times New Roman" panose="02020603050405020304" pitchFamily="18" charset="0"/>
                <a:cs typeface="Times New Roman" panose="02020603050405020304" pitchFamily="18" charset="0"/>
              </a:rPr>
              <a:t>()”</a:t>
            </a:r>
          </a:p>
          <a:p>
            <a:pPr fontAlgn="base"/>
            <a:r>
              <a:rPr lang="en-US" sz="2000" dirty="0">
                <a:latin typeface="Times New Roman" panose="02020603050405020304" pitchFamily="18" charset="0"/>
                <a:cs typeface="Times New Roman" panose="02020603050405020304" pitchFamily="18" charset="0"/>
              </a:rPr>
              <a:t>Luckily We don’t have any missing Values</a:t>
            </a:r>
          </a:p>
        </p:txBody>
      </p:sp>
      <p:pic>
        <p:nvPicPr>
          <p:cNvPr id="7" name="Picture 6">
            <a:extLst>
              <a:ext uri="{FF2B5EF4-FFF2-40B4-BE49-F238E27FC236}">
                <a16:creationId xmlns:a16="http://schemas.microsoft.com/office/drawing/2014/main" id="{7FBF6F6E-2C5E-AF62-3701-0DB1BD094153}"/>
              </a:ext>
            </a:extLst>
          </p:cNvPr>
          <p:cNvPicPr>
            <a:picLocks noChangeAspect="1"/>
          </p:cNvPicPr>
          <p:nvPr/>
        </p:nvPicPr>
        <p:blipFill>
          <a:blip r:embed="rId3"/>
          <a:stretch>
            <a:fillRect/>
          </a:stretch>
        </p:blipFill>
        <p:spPr>
          <a:xfrm>
            <a:off x="8479705" y="1542806"/>
            <a:ext cx="3260011" cy="3093988"/>
          </a:xfrm>
          <a:prstGeom prst="rect">
            <a:avLst/>
          </a:prstGeom>
        </p:spPr>
      </p:pic>
      <p:pic>
        <p:nvPicPr>
          <p:cNvPr id="9" name="Picture 8">
            <a:extLst>
              <a:ext uri="{FF2B5EF4-FFF2-40B4-BE49-F238E27FC236}">
                <a16:creationId xmlns:a16="http://schemas.microsoft.com/office/drawing/2014/main" id="{92504670-58BC-2887-D007-D526CCE8AD01}"/>
              </a:ext>
            </a:extLst>
          </p:cNvPr>
          <p:cNvPicPr>
            <a:picLocks noChangeAspect="1"/>
          </p:cNvPicPr>
          <p:nvPr/>
        </p:nvPicPr>
        <p:blipFill>
          <a:blip r:embed="rId4"/>
          <a:stretch>
            <a:fillRect/>
          </a:stretch>
        </p:blipFill>
        <p:spPr>
          <a:xfrm>
            <a:off x="6534154" y="4706271"/>
            <a:ext cx="2147730" cy="1822347"/>
          </a:xfrm>
          <a:prstGeom prst="rect">
            <a:avLst/>
          </a:prstGeom>
        </p:spPr>
      </p:pic>
    </p:spTree>
    <p:extLst>
      <p:ext uri="{BB962C8B-B14F-4D97-AF65-F5344CB8AC3E}">
        <p14:creationId xmlns:p14="http://schemas.microsoft.com/office/powerpoint/2010/main" val="291324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8D18A-46DB-F5D1-756C-F184C084F7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E93F408-C014-7315-2453-24243AE17923}"/>
              </a:ext>
            </a:extLst>
          </p:cNvPr>
          <p:cNvSpPr txBox="1"/>
          <p:nvPr/>
        </p:nvSpPr>
        <p:spPr>
          <a:xfrm>
            <a:off x="777802" y="328681"/>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Exploratory Data Analysis</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B1CE53B-57E3-B251-26CE-AF290EB82547}"/>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727B506B-E46E-7B43-B237-E4DBB3DDD959}"/>
              </a:ext>
            </a:extLst>
          </p:cNvPr>
          <p:cNvSpPr txBox="1"/>
          <p:nvPr/>
        </p:nvSpPr>
        <p:spPr>
          <a:xfrm>
            <a:off x="689312" y="1897626"/>
            <a:ext cx="6468572" cy="3477875"/>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Checked dataset structure, missing values, and feature types.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Identified categorical and numerical features.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Target (</a:t>
            </a:r>
            <a:r>
              <a:rPr lang="en-US" sz="2000" dirty="0" err="1">
                <a:latin typeface="Times New Roman" panose="02020603050405020304" pitchFamily="18" charset="0"/>
                <a:cs typeface="Times New Roman" panose="02020603050405020304" pitchFamily="18" charset="0"/>
              </a:rPr>
              <a:t>heart_disease</a:t>
            </a:r>
            <a:r>
              <a:rPr lang="en-US" sz="2000" dirty="0">
                <a:latin typeface="Times New Roman" panose="02020603050405020304" pitchFamily="18" charset="0"/>
                <a:cs typeface="Times New Roman" panose="02020603050405020304" pitchFamily="18" charset="0"/>
              </a:rPr>
              <a:t>) showed balanced class distribution.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Visualized variable distributions using histograms and </a:t>
            </a:r>
            <a:r>
              <a:rPr lang="en-US" sz="2000" dirty="0" err="1">
                <a:latin typeface="Times New Roman" panose="02020603050405020304" pitchFamily="18" charset="0"/>
                <a:cs typeface="Times New Roman" panose="02020603050405020304" pitchFamily="18" charset="0"/>
              </a:rPr>
              <a:t>countplots</a:t>
            </a:r>
            <a:r>
              <a:rPr 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Correlation heatmap revealed key relationships — </a:t>
            </a:r>
            <a:r>
              <a:rPr lang="en-US" sz="2000" dirty="0" err="1">
                <a:latin typeface="Times New Roman" panose="02020603050405020304" pitchFamily="18" charset="0"/>
                <a:cs typeface="Times New Roman" panose="02020603050405020304" pitchFamily="18" charset="0"/>
              </a:rPr>
              <a:t>chest_pain_type</a:t>
            </a:r>
            <a:r>
              <a:rPr lang="en-US" sz="2000" dirty="0">
                <a:latin typeface="Times New Roman" panose="02020603050405020304" pitchFamily="18" charset="0"/>
                <a:cs typeface="Times New Roman" panose="02020603050405020304" pitchFamily="18" charset="0"/>
              </a:rPr>
              <a:t>, ST depression, and </a:t>
            </a:r>
            <a:r>
              <a:rPr lang="en-US" sz="2000" dirty="0" err="1">
                <a:latin typeface="Times New Roman" panose="02020603050405020304" pitchFamily="18" charset="0"/>
                <a:cs typeface="Times New Roman" panose="02020603050405020304" pitchFamily="18" charset="0"/>
              </a:rPr>
              <a:t>max_heart_rate</a:t>
            </a:r>
            <a:r>
              <a:rPr lang="en-US" sz="2000" dirty="0">
                <a:latin typeface="Times New Roman" panose="02020603050405020304" pitchFamily="18" charset="0"/>
                <a:cs typeface="Times New Roman" panose="02020603050405020304" pitchFamily="18" charset="0"/>
              </a:rPr>
              <a:t> strongly linked to heart disease.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Insights from EDA guided feature selection and preprocessing for model training.</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8104015-CCCA-A56F-30D9-7DC2B4C09C62}"/>
              </a:ext>
            </a:extLst>
          </p:cNvPr>
          <p:cNvPicPr>
            <a:picLocks noChangeAspect="1"/>
          </p:cNvPicPr>
          <p:nvPr/>
        </p:nvPicPr>
        <p:blipFill>
          <a:blip r:embed="rId3"/>
          <a:stretch>
            <a:fillRect/>
          </a:stretch>
        </p:blipFill>
        <p:spPr>
          <a:xfrm>
            <a:off x="8906095" y="1360714"/>
            <a:ext cx="2904905" cy="3138278"/>
          </a:xfrm>
          <a:prstGeom prst="rect">
            <a:avLst/>
          </a:prstGeom>
        </p:spPr>
      </p:pic>
      <p:pic>
        <p:nvPicPr>
          <p:cNvPr id="8" name="Picture 7">
            <a:extLst>
              <a:ext uri="{FF2B5EF4-FFF2-40B4-BE49-F238E27FC236}">
                <a16:creationId xmlns:a16="http://schemas.microsoft.com/office/drawing/2014/main" id="{72B581AD-08EC-F4F4-1796-27FC53BB3A76}"/>
              </a:ext>
            </a:extLst>
          </p:cNvPr>
          <p:cNvPicPr>
            <a:picLocks noChangeAspect="1"/>
          </p:cNvPicPr>
          <p:nvPr/>
        </p:nvPicPr>
        <p:blipFill>
          <a:blip r:embed="rId4"/>
          <a:stretch>
            <a:fillRect/>
          </a:stretch>
        </p:blipFill>
        <p:spPr>
          <a:xfrm>
            <a:off x="5986616" y="4253824"/>
            <a:ext cx="3609526" cy="2486923"/>
          </a:xfrm>
          <a:prstGeom prst="rect">
            <a:avLst/>
          </a:prstGeom>
        </p:spPr>
      </p:pic>
      <p:pic>
        <p:nvPicPr>
          <p:cNvPr id="10" name="Picture 9">
            <a:extLst>
              <a:ext uri="{FF2B5EF4-FFF2-40B4-BE49-F238E27FC236}">
                <a16:creationId xmlns:a16="http://schemas.microsoft.com/office/drawing/2014/main" id="{DECAE382-A4A2-4E32-3276-ACCCEB3B3B72}"/>
              </a:ext>
            </a:extLst>
          </p:cNvPr>
          <p:cNvPicPr>
            <a:picLocks noChangeAspect="1"/>
          </p:cNvPicPr>
          <p:nvPr/>
        </p:nvPicPr>
        <p:blipFill>
          <a:blip r:embed="rId5"/>
          <a:stretch>
            <a:fillRect/>
          </a:stretch>
        </p:blipFill>
        <p:spPr>
          <a:xfrm>
            <a:off x="6907382" y="2432393"/>
            <a:ext cx="1767993" cy="441998"/>
          </a:xfrm>
          <a:prstGeom prst="rect">
            <a:avLst/>
          </a:prstGeom>
        </p:spPr>
      </p:pic>
    </p:spTree>
    <p:extLst>
      <p:ext uri="{BB962C8B-B14F-4D97-AF65-F5344CB8AC3E}">
        <p14:creationId xmlns:p14="http://schemas.microsoft.com/office/powerpoint/2010/main" val="787646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D2712-5925-9393-290C-6311D67994E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CEF693-3F1B-C86F-2FE2-E46BBF83FD9B}"/>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Model Building &amp; Training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6A1A8DE-0F20-800C-3FA2-50793CC053F1}"/>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58577117-52D9-B2CB-F10E-7E1229265A94}"/>
              </a:ext>
            </a:extLst>
          </p:cNvPr>
          <p:cNvSpPr txBox="1"/>
          <p:nvPr/>
        </p:nvSpPr>
        <p:spPr>
          <a:xfrm>
            <a:off x="599768" y="2015613"/>
            <a:ext cx="11100619" cy="3785652"/>
          </a:xfrm>
          <a:prstGeom prst="rect">
            <a:avLst/>
          </a:prstGeom>
          <a:noFill/>
        </p:spPr>
        <p:txBody>
          <a:bodyPr wrap="square" rtlCol="0">
            <a:spAutoFit/>
          </a:bodyPr>
          <a:lstStyle/>
          <a:p>
            <a:pPr fontAlgn="base"/>
            <a:r>
              <a:rPr lang="en-US" sz="2000" b="1" dirty="0">
                <a:latin typeface="Times New Roman" panose="02020603050405020304" pitchFamily="18" charset="0"/>
                <a:cs typeface="Times New Roman" panose="02020603050405020304" pitchFamily="18" charset="0"/>
              </a:rPr>
              <a:t>Algorithm Selection:</a:t>
            </a:r>
            <a:r>
              <a:rPr lang="en-US" sz="2000" dirty="0">
                <a:latin typeface="Times New Roman" panose="02020603050405020304" pitchFamily="18" charset="0"/>
                <a:cs typeface="Times New Roman" panose="02020603050405020304" pitchFamily="18" charset="0"/>
              </a:rPr>
              <a:t> We selected and compared four distinct classification algorithms to achieve the project objective:</a:t>
            </a:r>
            <a:endParaRPr lang="en-US" sz="2000" b="1"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Logistic Regression : A foundational linear model, highly interpretable.</a:t>
            </a:r>
          </a:p>
          <a:p>
            <a:pPr fontAlgn="base"/>
            <a:r>
              <a:rPr lang="en-US" sz="2000" dirty="0">
                <a:latin typeface="Times New Roman" panose="02020603050405020304" pitchFamily="18" charset="0"/>
                <a:cs typeface="Times New Roman" panose="02020603050405020304" pitchFamily="18" charset="0"/>
              </a:rPr>
              <a:t>Support Vector Machine (SVM): Effective in high-dimensional spaces, leveraging the kernel trick.</a:t>
            </a:r>
          </a:p>
          <a:p>
            <a:pPr fontAlgn="base"/>
            <a:r>
              <a:rPr lang="en-US" sz="2000" dirty="0">
                <a:latin typeface="Times New Roman" panose="02020603050405020304" pitchFamily="18" charset="0"/>
                <a:cs typeface="Times New Roman" panose="02020603050405020304" pitchFamily="18" charset="0"/>
              </a:rPr>
              <a:t>Decision Tree Classifier : A non-linear model, easy to understand.</a:t>
            </a:r>
          </a:p>
          <a:p>
            <a:pPr fontAlgn="base"/>
            <a:r>
              <a:rPr lang="en-US" sz="2000" dirty="0">
                <a:latin typeface="Times New Roman" panose="02020603050405020304" pitchFamily="18" charset="0"/>
                <a:cs typeface="Times New Roman" panose="02020603050405020304" pitchFamily="18" charset="0"/>
              </a:rPr>
              <a:t>Random Forest : An ensemble method (multiple decision trees) for improved accuracy and stability.</a:t>
            </a:r>
          </a:p>
          <a:p>
            <a:pPr fontAlgn="base"/>
            <a:r>
              <a:rPr lang="en-US" sz="2000" b="1" dirty="0">
                <a:latin typeface="Times New Roman" panose="02020603050405020304" pitchFamily="18" charset="0"/>
                <a:cs typeface="Times New Roman" panose="02020603050405020304" pitchFamily="18" charset="0"/>
              </a:rPr>
              <a:t>Training Data Input:</a:t>
            </a:r>
            <a:r>
              <a:rPr lang="en-US" sz="2000" dirty="0">
                <a:latin typeface="Times New Roman" panose="02020603050405020304" pitchFamily="18" charset="0"/>
                <a:cs typeface="Times New Roman" panose="02020603050405020304" pitchFamily="18" charset="0"/>
              </a:rPr>
              <a:t> Each model was trained using the 80% training dataset (</a:t>
            </a:r>
            <a:r>
              <a:rPr lang="en-US" sz="2000" dirty="0" err="1">
                <a:latin typeface="Times New Roman" panose="02020603050405020304" pitchFamily="18" charset="0"/>
                <a:cs typeface="Times New Roman" panose="02020603050405020304" pitchFamily="18" charset="0"/>
              </a:rPr>
              <a:t>X_train</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y_train</a:t>
            </a:r>
            <a:r>
              <a:rPr lang="en-US" sz="2000" dirty="0">
                <a:latin typeface="Times New Roman" panose="02020603050405020304" pitchFamily="18" charset="0"/>
                <a:cs typeface="Times New Roman" panose="02020603050405020304" pitchFamily="18" charset="0"/>
              </a:rPr>
              <a:t>) that was prepared during the preprocessing phase.</a:t>
            </a:r>
            <a:endParaRPr lang="en-US" sz="2000" b="1" dirty="0">
              <a:latin typeface="Times New Roman" panose="02020603050405020304" pitchFamily="18" charset="0"/>
              <a:cs typeface="Times New Roman" panose="02020603050405020304" pitchFamily="18" charset="0"/>
            </a:endParaRPr>
          </a:p>
          <a:p>
            <a:pPr fontAlgn="base"/>
            <a:r>
              <a:rPr lang="en-US" sz="2000" b="1" dirty="0">
                <a:latin typeface="Times New Roman" panose="02020603050405020304" pitchFamily="18" charset="0"/>
                <a:cs typeface="Times New Roman" panose="02020603050405020304" pitchFamily="18" charset="0"/>
              </a:rPr>
              <a:t>Model Fitting:</a:t>
            </a:r>
            <a:r>
              <a:rPr lang="en-US" sz="2000" dirty="0">
                <a:latin typeface="Times New Roman" panose="02020603050405020304" pitchFamily="18" charset="0"/>
                <a:cs typeface="Times New Roman" panose="02020603050405020304" pitchFamily="18" charset="0"/>
              </a:rPr>
              <a:t> The </a:t>
            </a:r>
            <a:r>
              <a:rPr lang="en-US" sz="2000" b="1" dirty="0">
                <a:latin typeface="Times New Roman" panose="02020603050405020304" pitchFamily="18" charset="0"/>
                <a:cs typeface="Times New Roman" panose="02020603050405020304" pitchFamily="18" charset="0"/>
              </a:rPr>
              <a:t>fit</a:t>
            </a:r>
            <a:r>
              <a:rPr lang="en-US" sz="2000" dirty="0">
                <a:latin typeface="Times New Roman" panose="02020603050405020304" pitchFamily="18" charset="0"/>
                <a:cs typeface="Times New Roman" panose="02020603050405020304" pitchFamily="18" charset="0"/>
              </a:rPr>
              <a:t> method was applied to each model instance, allowing the algorithm to learn the relationship between the 13 features and the target variable </a:t>
            </a:r>
            <a:r>
              <a:rPr lang="en-US" sz="2000" dirty="0" err="1">
                <a:latin typeface="Times New Roman" panose="02020603050405020304" pitchFamily="18" charset="0"/>
                <a:cs typeface="Times New Roman" panose="02020603050405020304" pitchFamily="18" charset="0"/>
              </a:rPr>
              <a:t>heart_disease</a:t>
            </a:r>
            <a:r>
              <a:rPr lang="en-US" sz="2000" dirty="0">
                <a:latin typeface="Times New Roman" panose="02020603050405020304" pitchFamily="18" charset="0"/>
                <a:cs typeface="Times New Roman" panose="02020603050405020304" pitchFamily="18" charset="0"/>
              </a:rPr>
              <a:t> from the training data.</a:t>
            </a:r>
            <a:endParaRPr lang="en-US" sz="2000" b="1" dirty="0">
              <a:latin typeface="Times New Roman" panose="02020603050405020304" pitchFamily="18" charset="0"/>
              <a:cs typeface="Times New Roman" panose="02020603050405020304" pitchFamily="18" charset="0"/>
            </a:endParaRPr>
          </a:p>
          <a:p>
            <a:pPr fontAlgn="base"/>
            <a:r>
              <a:rPr lang="en-US" sz="2000" b="1" dirty="0">
                <a:latin typeface="Times New Roman" panose="02020603050405020304" pitchFamily="18" charset="0"/>
                <a:cs typeface="Times New Roman" panose="02020603050405020304" pitchFamily="18" charset="0"/>
              </a:rPr>
              <a:t>Prediction Generation:</a:t>
            </a:r>
            <a:r>
              <a:rPr lang="en-US" sz="2000" dirty="0">
                <a:latin typeface="Times New Roman" panose="02020603050405020304" pitchFamily="18" charset="0"/>
                <a:cs typeface="Times New Roman" panose="02020603050405020304" pitchFamily="18" charset="0"/>
              </a:rPr>
              <a:t> After training, each model generated predictions on the 20% testing dataset (</a:t>
            </a:r>
            <a:r>
              <a:rPr lang="en-US" sz="2000" dirty="0" err="1">
                <a:latin typeface="Times New Roman" panose="02020603050405020304" pitchFamily="18" charset="0"/>
                <a:cs typeface="Times New Roman" panose="02020603050405020304" pitchFamily="18" charset="0"/>
              </a:rPr>
              <a:t>X_test</a:t>
            </a:r>
            <a:r>
              <a:rPr lang="en-US" sz="2000" dirty="0">
                <a:latin typeface="Times New Roman" panose="02020603050405020304" pitchFamily="18" charset="0"/>
                <a:cs typeface="Times New Roman" panose="02020603050405020304" pitchFamily="18" charset="0"/>
              </a:rPr>
              <a:t>) to evaluate its performance on unseen data. </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4115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261F9-3D54-AE2B-6153-934F631B861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87ADD1F-D45A-8F7D-1C92-108B6142B7D1}"/>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Model Evaluation &amp; Performance Analysis</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E615959-485D-C178-225B-384D3709F9D6}"/>
              </a:ext>
            </a:extLst>
          </p:cNvPr>
          <p:cNvPicPr>
            <a:picLocks noChangeAspect="1"/>
          </p:cNvPicPr>
          <p:nvPr/>
        </p:nvPicPr>
        <p:blipFill>
          <a:blip r:embed="rId2"/>
          <a:stretch>
            <a:fillRect/>
          </a:stretch>
        </p:blipFill>
        <p:spPr>
          <a:xfrm>
            <a:off x="10232571" y="304800"/>
            <a:ext cx="1578429" cy="1055914"/>
          </a:xfrm>
          <a:prstGeom prst="rect">
            <a:avLst/>
          </a:prstGeom>
        </p:spPr>
      </p:pic>
      <p:pic>
        <p:nvPicPr>
          <p:cNvPr id="7" name="Picture 6">
            <a:extLst>
              <a:ext uri="{FF2B5EF4-FFF2-40B4-BE49-F238E27FC236}">
                <a16:creationId xmlns:a16="http://schemas.microsoft.com/office/drawing/2014/main" id="{D453FACE-7020-7199-70AB-66CEAFB21E51}"/>
              </a:ext>
            </a:extLst>
          </p:cNvPr>
          <p:cNvPicPr>
            <a:picLocks noChangeAspect="1"/>
          </p:cNvPicPr>
          <p:nvPr/>
        </p:nvPicPr>
        <p:blipFill rotWithShape="1">
          <a:blip r:embed="rId3"/>
          <a:srcRect l="1995"/>
          <a:stretch/>
        </p:blipFill>
        <p:spPr>
          <a:xfrm>
            <a:off x="1199536" y="1827941"/>
            <a:ext cx="3982065" cy="2067233"/>
          </a:xfrm>
          <a:prstGeom prst="rect">
            <a:avLst/>
          </a:prstGeom>
        </p:spPr>
      </p:pic>
      <p:pic>
        <p:nvPicPr>
          <p:cNvPr id="9" name="Picture 8">
            <a:extLst>
              <a:ext uri="{FF2B5EF4-FFF2-40B4-BE49-F238E27FC236}">
                <a16:creationId xmlns:a16="http://schemas.microsoft.com/office/drawing/2014/main" id="{F3A5ADDE-B144-6975-3490-7C563EE230CA}"/>
              </a:ext>
            </a:extLst>
          </p:cNvPr>
          <p:cNvPicPr>
            <a:picLocks noChangeAspect="1"/>
          </p:cNvPicPr>
          <p:nvPr/>
        </p:nvPicPr>
        <p:blipFill>
          <a:blip r:embed="rId4"/>
          <a:stretch>
            <a:fillRect/>
          </a:stretch>
        </p:blipFill>
        <p:spPr>
          <a:xfrm>
            <a:off x="5450234" y="1549309"/>
            <a:ext cx="5624047" cy="3071126"/>
          </a:xfrm>
          <a:prstGeom prst="rect">
            <a:avLst/>
          </a:prstGeom>
        </p:spPr>
      </p:pic>
      <p:pic>
        <p:nvPicPr>
          <p:cNvPr id="11" name="Picture 10">
            <a:extLst>
              <a:ext uri="{FF2B5EF4-FFF2-40B4-BE49-F238E27FC236}">
                <a16:creationId xmlns:a16="http://schemas.microsoft.com/office/drawing/2014/main" id="{9778E50F-F12F-A144-075C-049800B34170}"/>
              </a:ext>
            </a:extLst>
          </p:cNvPr>
          <p:cNvPicPr>
            <a:picLocks noChangeAspect="1"/>
          </p:cNvPicPr>
          <p:nvPr/>
        </p:nvPicPr>
        <p:blipFill>
          <a:blip r:embed="rId5"/>
          <a:stretch>
            <a:fillRect/>
          </a:stretch>
        </p:blipFill>
        <p:spPr>
          <a:xfrm>
            <a:off x="1199536" y="4003882"/>
            <a:ext cx="3669267" cy="2854118"/>
          </a:xfrm>
          <a:prstGeom prst="rect">
            <a:avLst/>
          </a:prstGeom>
        </p:spPr>
      </p:pic>
    </p:spTree>
    <p:extLst>
      <p:ext uri="{BB962C8B-B14F-4D97-AF65-F5344CB8AC3E}">
        <p14:creationId xmlns:p14="http://schemas.microsoft.com/office/powerpoint/2010/main" val="898477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F5859-3F4C-D8DD-CE15-FCD60E9FE40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F7834B0-F418-3C39-D0AB-556B1B3F258C}"/>
              </a:ext>
            </a:extLst>
          </p:cNvPr>
          <p:cNvSpPr txBox="1"/>
          <p:nvPr/>
        </p:nvSpPr>
        <p:spPr>
          <a:xfrm>
            <a:off x="488805" y="304800"/>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Stream API Deployment</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9176574-2FD3-0181-FFC0-5C16D394C2C7}"/>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042C0391-91E7-F973-F63A-AFD586103854}"/>
              </a:ext>
            </a:extLst>
          </p:cNvPr>
          <p:cNvSpPr txBox="1"/>
          <p:nvPr/>
        </p:nvSpPr>
        <p:spPr>
          <a:xfrm>
            <a:off x="488806" y="1386258"/>
            <a:ext cx="6295452" cy="5139869"/>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Flask-based Inference Endpoint: </a:t>
            </a: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A lightweight Flask API was developed to serve the trained machine learning model. It handles incoming data requests, performs preprocessing, and returns predictions in real time.</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Real-time Predictions via REST API: </a:t>
            </a: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The Flask API exposes endpoints (e.g., /predict) that can be accessed through HTTP POST requests. This allows external systems or applications to send data and instantly receive model inferences.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Deployment on Docker Container: </a:t>
            </a: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Both the Flask backend and </a:t>
            </a:r>
            <a:r>
              <a:rPr kumimoji="0" lang="en-US" sz="2000" b="0" i="0" u="none" strike="noStrike" kern="1200" cap="none" spc="0" normalizeH="0" baseline="0" noProof="0" dirty="0" err="1">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Streamlit</a:t>
            </a: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 frontend are containerized using Docker. The environment, dependencies, and services are encapsulated within the container, ensuring platform independence, scalability, and easy deployment on any host or cloud platform.</a:t>
            </a:r>
          </a:p>
        </p:txBody>
      </p:sp>
      <p:pic>
        <p:nvPicPr>
          <p:cNvPr id="6" name="Picture 5">
            <a:extLst>
              <a:ext uri="{FF2B5EF4-FFF2-40B4-BE49-F238E27FC236}">
                <a16:creationId xmlns:a16="http://schemas.microsoft.com/office/drawing/2014/main" id="{076D11BA-8275-B8D5-4DFE-DD75EF70372E}"/>
              </a:ext>
            </a:extLst>
          </p:cNvPr>
          <p:cNvPicPr>
            <a:picLocks noChangeAspect="1"/>
          </p:cNvPicPr>
          <p:nvPr/>
        </p:nvPicPr>
        <p:blipFill>
          <a:blip r:embed="rId3"/>
          <a:stretch>
            <a:fillRect/>
          </a:stretch>
        </p:blipFill>
        <p:spPr>
          <a:xfrm>
            <a:off x="6894870" y="2012661"/>
            <a:ext cx="4916130" cy="2962462"/>
          </a:xfrm>
          <a:prstGeom prst="rect">
            <a:avLst/>
          </a:prstGeom>
        </p:spPr>
      </p:pic>
    </p:spTree>
    <p:extLst>
      <p:ext uri="{BB962C8B-B14F-4D97-AF65-F5344CB8AC3E}">
        <p14:creationId xmlns:p14="http://schemas.microsoft.com/office/powerpoint/2010/main" val="2335237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ADC14-24A4-83A3-80F3-7EB7CF454A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AA9192C-DD60-DC37-1D2D-65A5FB6C01AE}"/>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C266F1F-149E-98DD-8A5C-0CEFFD4D5211}"/>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4C34F1BA-0D4C-C841-9D98-BF6AC947FB3B}"/>
              </a:ext>
            </a:extLst>
          </p:cNvPr>
          <p:cNvSpPr txBox="1"/>
          <p:nvPr/>
        </p:nvSpPr>
        <p:spPr>
          <a:xfrm>
            <a:off x="1150374" y="1827941"/>
            <a:ext cx="7482349" cy="2246769"/>
          </a:xfrm>
          <a:prstGeom prst="rect">
            <a:avLst/>
          </a:prstGeom>
          <a:noFill/>
        </p:spPr>
        <p:txBody>
          <a:bodyPr wrap="square" rtlCol="0">
            <a:spAutoFit/>
          </a:bodyPr>
          <a:lstStyle/>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Best Model: </a:t>
            </a:r>
            <a:r>
              <a:rPr lang="en-US" sz="2000" dirty="0">
                <a:latin typeface="Times New Roman" panose="02020603050405020304" pitchFamily="18" charset="0"/>
                <a:cs typeface="Times New Roman" panose="02020603050405020304" pitchFamily="18" charset="0"/>
              </a:rPr>
              <a:t>Random Forest (Accuracy ≈ 67.5%, ROC-AUC ≈ 0.76)</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Other Models: </a:t>
            </a:r>
            <a:r>
              <a:rPr lang="en-US" sz="2000" dirty="0">
                <a:latin typeface="Times New Roman" panose="02020603050405020304" pitchFamily="18" charset="0"/>
                <a:cs typeface="Times New Roman" panose="02020603050405020304" pitchFamily="18" charset="0"/>
              </a:rPr>
              <a:t>Logistic Regression similar accuracy (≈67.5%), SVM slightly lower, Decision Tree performed worst</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Insight: </a:t>
            </a:r>
            <a:r>
              <a:rPr lang="en-US" sz="2000" dirty="0">
                <a:latin typeface="Times New Roman" panose="02020603050405020304" pitchFamily="18" charset="0"/>
                <a:cs typeface="Times New Roman" panose="02020603050405020304" pitchFamily="18" charset="0"/>
              </a:rPr>
              <a:t>Random Forest and Logistic Regression provide the most reliable predictions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Next Step: </a:t>
            </a:r>
            <a:r>
              <a:rPr lang="en-US" sz="2000" dirty="0">
                <a:latin typeface="Times New Roman" panose="02020603050405020304" pitchFamily="18" charset="0"/>
                <a:cs typeface="Times New Roman" panose="02020603050405020304" pitchFamily="18" charset="0"/>
              </a:rPr>
              <a:t>Improve model via feature engineering, hyperparameter tuning, or ensemble methods for higher accuracy</a:t>
            </a:r>
          </a:p>
        </p:txBody>
      </p:sp>
    </p:spTree>
    <p:extLst>
      <p:ext uri="{BB962C8B-B14F-4D97-AF65-F5344CB8AC3E}">
        <p14:creationId xmlns:p14="http://schemas.microsoft.com/office/powerpoint/2010/main" val="857615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A4D34-C2E1-C9C0-E176-2E6A147A37C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8A228EE-FED1-835D-6A31-D4A60C3188B4}"/>
              </a:ext>
            </a:extLst>
          </p:cNvPr>
          <p:cNvSpPr txBox="1"/>
          <p:nvPr/>
        </p:nvSpPr>
        <p:spPr>
          <a:xfrm>
            <a:off x="1023257" y="2490281"/>
            <a:ext cx="10384971" cy="1877437"/>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pPr algn="ctr"/>
            <a:r>
              <a:rPr lang="en-IN" sz="8000" dirty="0">
                <a:solidFill>
                  <a:schemeClr val="accent1">
                    <a:lumMod val="75000"/>
                  </a:schemeClr>
                </a:solidFill>
                <a:latin typeface="Times New Roman" panose="02020603050405020304" pitchFamily="18" charset="0"/>
                <a:cs typeface="Times New Roman" panose="02020603050405020304" pitchFamily="18" charset="0"/>
              </a:rPr>
              <a:t>Any Queries ???</a:t>
            </a:r>
            <a:endParaRPr lang="en-IN" sz="4000" dirty="0">
              <a:solidFill>
                <a:schemeClr val="accent1">
                  <a:lumMod val="75000"/>
                </a:schemeClr>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6D9250A-B516-92CD-8809-B1DD666EA915}"/>
              </a:ext>
            </a:extLst>
          </p:cNvPr>
          <p:cNvPicPr>
            <a:picLocks noChangeAspect="1"/>
          </p:cNvPicPr>
          <p:nvPr/>
        </p:nvPicPr>
        <p:blipFill>
          <a:blip r:embed="rId2"/>
          <a:stretch>
            <a:fillRect/>
          </a:stretch>
        </p:blipFill>
        <p:spPr>
          <a:xfrm>
            <a:off x="10232571" y="304800"/>
            <a:ext cx="1578429" cy="1055914"/>
          </a:xfrm>
          <a:prstGeom prst="rect">
            <a:avLst/>
          </a:prstGeom>
        </p:spPr>
      </p:pic>
    </p:spTree>
    <p:extLst>
      <p:ext uri="{BB962C8B-B14F-4D97-AF65-F5344CB8AC3E}">
        <p14:creationId xmlns:p14="http://schemas.microsoft.com/office/powerpoint/2010/main" val="965714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910</Words>
  <Application>Microsoft Office PowerPoint</Application>
  <PresentationFormat>Widescreen</PresentationFormat>
  <Paragraphs>89</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Anantason Bold</vt:lpstr>
      <vt:lpstr>Arial</vt:lpstr>
      <vt:lpstr>Calibri</vt:lpstr>
      <vt:lpstr>Calibri Light</vt:lpstr>
      <vt:lpstr>Times New Roman</vt:lpstr>
      <vt:lpstr>Office Theme</vt:lpstr>
      <vt:lpstr>     Capstone Project2 HEART DISEASE DETECTION USING CLASSIFICATION ALGORITHMS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Project2 HEART DISEASE DETECTION USING CLASSIFICATION ALGORITHMS</dc:title>
  <dc:creator>TNS INDIA FOUNDATION</dc:creator>
  <cp:lastModifiedBy>Sudarshan gowda</cp:lastModifiedBy>
  <cp:revision>5</cp:revision>
  <dcterms:created xsi:type="dcterms:W3CDTF">2025-09-02T04:26:51Z</dcterms:created>
  <dcterms:modified xsi:type="dcterms:W3CDTF">2025-10-29T11:08:40Z</dcterms:modified>
</cp:coreProperties>
</file>