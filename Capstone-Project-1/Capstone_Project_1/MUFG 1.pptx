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C5DF3-6D1B-4EE9-9421-3127ED95A5AB}" type="datetimeFigureOut">
              <a:rPr lang="en-IN" smtClean="0"/>
              <a:t>29-10-2025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548D0D-4E49-4D2D-ABE8-87C4D8FE27FD}" type="slidenum">
              <a:rPr lang="en-IN" smtClean="0"/>
              <a:t>‹#›</a:t>
            </a:fld>
            <a:endParaRPr lang="en-IN"/>
          </a:p>
        </p:txBody>
      </p:sp>
    </p:spTree>
    <p:extLst>
      <p:ext uri="{BB962C8B-B14F-4D97-AF65-F5344CB8AC3E}">
        <p14:creationId xmlns:p14="http://schemas.microsoft.com/office/powerpoint/2010/main" val="4235801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548D0D-4E49-4D2D-ABE8-87C4D8FE27FD}" type="slidenum">
              <a:rPr lang="en-IN" smtClean="0"/>
              <a:t>10</a:t>
            </a:fld>
            <a:endParaRPr lang="en-IN"/>
          </a:p>
        </p:txBody>
      </p:sp>
    </p:spTree>
    <p:extLst>
      <p:ext uri="{BB962C8B-B14F-4D97-AF65-F5344CB8AC3E}">
        <p14:creationId xmlns:p14="http://schemas.microsoft.com/office/powerpoint/2010/main" val="1680300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09A77-C147-B1FD-9139-EB477AE9EB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CBA19F-0083-1537-7C08-A7B801910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050F3E-70C8-A1C4-780D-DDE7F281F72E}"/>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5" name="Footer Placeholder 4">
            <a:extLst>
              <a:ext uri="{FF2B5EF4-FFF2-40B4-BE49-F238E27FC236}">
                <a16:creationId xmlns:a16="http://schemas.microsoft.com/office/drawing/2014/main" id="{A2BE0DE3-9265-B96A-8815-DE48359930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1751EB-682B-99D5-DA14-E60C3C0A3C54}"/>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021318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1E3-8037-BE6F-B4A6-E4AB74EF88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18E225-010E-9DA0-5068-EF2FDE4BB8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C5DE6-FACD-C94A-C67C-4F3372796F6D}"/>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5" name="Footer Placeholder 4">
            <a:extLst>
              <a:ext uri="{FF2B5EF4-FFF2-40B4-BE49-F238E27FC236}">
                <a16:creationId xmlns:a16="http://schemas.microsoft.com/office/drawing/2014/main" id="{97FA9AF5-A13F-F886-06FA-642B576616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E1A9BC-F27B-3E53-939A-56320E5C5739}"/>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15942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CB12-4B71-1B8C-157D-A08C82D65D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44F063-D2D2-E105-A3B7-01584DD6C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23032D-B4B8-4443-74CA-67A9BD194954}"/>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5" name="Footer Placeholder 4">
            <a:extLst>
              <a:ext uri="{FF2B5EF4-FFF2-40B4-BE49-F238E27FC236}">
                <a16:creationId xmlns:a16="http://schemas.microsoft.com/office/drawing/2014/main" id="{B133E9BF-FF3F-E542-5D96-3B0C09B13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EB6A5A-91F8-A719-8F8B-4FE27B8CC4F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679491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29050-05BA-7DCC-C39A-DADD06EA5C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47671E-44E3-2F08-1351-9C6F00D02A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E8C00F-96DA-0446-68FF-ED9743603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973387-363F-10E0-74F1-73AA39F4A396}"/>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6" name="Footer Placeholder 5">
            <a:extLst>
              <a:ext uri="{FF2B5EF4-FFF2-40B4-BE49-F238E27FC236}">
                <a16:creationId xmlns:a16="http://schemas.microsoft.com/office/drawing/2014/main" id="{2E350D7A-4C6A-5C34-6F4E-EA32BBA889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0BB4A7-2563-030C-7382-77A591B26D7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932385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85F14-BFAE-2884-D8ED-B9A1084E38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43364A-20D8-809B-09A1-C795CABE0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0A4D6-7230-3EDF-6116-7C38F0DE01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D9A00F-F31C-00D6-744B-C8BE28FA92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20348-330B-C957-4621-698C7F667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A60C0B5-CF6A-D09B-6FC4-341C29CC12F0}"/>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8" name="Footer Placeholder 7">
            <a:extLst>
              <a:ext uri="{FF2B5EF4-FFF2-40B4-BE49-F238E27FC236}">
                <a16:creationId xmlns:a16="http://schemas.microsoft.com/office/drawing/2014/main" id="{0EBB677E-2EDC-D67B-965B-13E43B3404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102C4D-0725-2168-A8D1-EB4B42BCDDAA}"/>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90595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A779-C0F8-6C60-F2F8-9DCE921965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EF66D3-8187-7C65-BA62-FAE7B163DF97}"/>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4" name="Footer Placeholder 3">
            <a:extLst>
              <a:ext uri="{FF2B5EF4-FFF2-40B4-BE49-F238E27FC236}">
                <a16:creationId xmlns:a16="http://schemas.microsoft.com/office/drawing/2014/main" id="{EF347678-40F1-EFBF-1C71-A7A1545421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FFA58E-669B-7F79-7B54-7FAE8499FB2F}"/>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50409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ADF934-12F7-97E9-7DB0-6E41F5F0D090}"/>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3" name="Footer Placeholder 2">
            <a:extLst>
              <a:ext uri="{FF2B5EF4-FFF2-40B4-BE49-F238E27FC236}">
                <a16:creationId xmlns:a16="http://schemas.microsoft.com/office/drawing/2014/main" id="{E860BF61-B1D3-B818-3766-3A576D04D2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07C1CE-5369-E3F3-4DC6-551292B70C6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852356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6C33-FB1A-5898-4598-CAD44AA26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13720A-DC75-A0EB-1D78-D3EAEFDCD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8DF845-1430-5890-AF76-C2330BECB0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985CC5-2E09-A7DE-798B-C4E4E3EC0C8B}"/>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6" name="Footer Placeholder 5">
            <a:extLst>
              <a:ext uri="{FF2B5EF4-FFF2-40B4-BE49-F238E27FC236}">
                <a16:creationId xmlns:a16="http://schemas.microsoft.com/office/drawing/2014/main" id="{EB395BBA-E803-C778-97E4-011316C708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3BBFA0-1334-BA7E-6156-3A7CA53BEE3E}"/>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181874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F0B11-2D62-B2E6-D640-19F1FC3AC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2CAB0D-F8FA-839C-CC4F-55DD4BAF3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393718-A932-F370-6181-75A272F5B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06EBB-ED6C-D9F9-7326-60C43DFF6B6F}"/>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6" name="Footer Placeholder 5">
            <a:extLst>
              <a:ext uri="{FF2B5EF4-FFF2-40B4-BE49-F238E27FC236}">
                <a16:creationId xmlns:a16="http://schemas.microsoft.com/office/drawing/2014/main" id="{50A6B0BD-2F76-7FE9-9400-176707973C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096AA4-C81C-744B-DAA3-7CD69DC6E186}"/>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431536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3428-02E5-4908-BCC7-84B133D0FB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ACC2CC-6EAF-B25A-B38C-2A090E9B05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B56641-3EAF-97BB-A494-B0FCFB857BD5}"/>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5" name="Footer Placeholder 4">
            <a:extLst>
              <a:ext uri="{FF2B5EF4-FFF2-40B4-BE49-F238E27FC236}">
                <a16:creationId xmlns:a16="http://schemas.microsoft.com/office/drawing/2014/main" id="{E003B72D-E111-52F6-6D73-B32E32E096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48005E-481A-85BA-C998-22676C4D2EA3}"/>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30518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241D97-28E8-9CD1-9CF8-99D1DE81B8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6AD63C-27FB-ADA2-4B93-78716C6D1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B263C-3687-6024-3C83-5B74203D759F}"/>
              </a:ext>
            </a:extLst>
          </p:cNvPr>
          <p:cNvSpPr>
            <a:spLocks noGrp="1"/>
          </p:cNvSpPr>
          <p:nvPr>
            <p:ph type="dt" sz="half" idx="10"/>
          </p:nvPr>
        </p:nvSpPr>
        <p:spPr/>
        <p:txBody>
          <a:bodyPr/>
          <a:lstStyle/>
          <a:p>
            <a:fld id="{4B279106-F635-453E-8BA0-E6B668AF8050}" type="datetimeFigureOut">
              <a:rPr lang="en-IN" smtClean="0"/>
              <a:t>28-10-2025</a:t>
            </a:fld>
            <a:endParaRPr lang="en-IN"/>
          </a:p>
        </p:txBody>
      </p:sp>
      <p:sp>
        <p:nvSpPr>
          <p:cNvPr id="5" name="Footer Placeholder 4">
            <a:extLst>
              <a:ext uri="{FF2B5EF4-FFF2-40B4-BE49-F238E27FC236}">
                <a16:creationId xmlns:a16="http://schemas.microsoft.com/office/drawing/2014/main" id="{705DF7E9-248A-526B-B15E-6F04D6DBB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CCC18-39D6-152F-88FE-0CAF7390C48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1497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CE4823-32C6-7967-7053-331734FFCA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055076-9E0C-8358-1357-67060CF94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856AD-F11E-3678-EF5D-91E665F1C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79106-F635-453E-8BA0-E6B668AF8050}" type="datetimeFigureOut">
              <a:rPr lang="en-IN" smtClean="0"/>
              <a:t>28-10-2025</a:t>
            </a:fld>
            <a:endParaRPr lang="en-IN"/>
          </a:p>
        </p:txBody>
      </p:sp>
      <p:sp>
        <p:nvSpPr>
          <p:cNvPr id="5" name="Footer Placeholder 4">
            <a:extLst>
              <a:ext uri="{FF2B5EF4-FFF2-40B4-BE49-F238E27FC236}">
                <a16:creationId xmlns:a16="http://schemas.microsoft.com/office/drawing/2014/main" id="{C339D20A-5A27-0BD5-E9C9-75DBD442E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385303-2260-B5AB-F87B-69EDC90F21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447402-4F5F-4B9C-AAE0-313DFBBA3223}" type="slidenum">
              <a:rPr lang="en-IN" smtClean="0"/>
              <a:t>‹#›</a:t>
            </a:fld>
            <a:endParaRPr lang="en-IN"/>
          </a:p>
        </p:txBody>
      </p:sp>
    </p:spTree>
    <p:extLst>
      <p:ext uri="{BB962C8B-B14F-4D97-AF65-F5344CB8AC3E}">
        <p14:creationId xmlns:p14="http://schemas.microsoft.com/office/powerpoint/2010/main" val="1231965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A89-72E0-CD64-0D89-F587402ACA62}"/>
              </a:ext>
            </a:extLst>
          </p:cNvPr>
          <p:cNvSpPr>
            <a:spLocks noGrp="1"/>
          </p:cNvSpPr>
          <p:nvPr>
            <p:ph type="ctrTitle"/>
          </p:nvPr>
        </p:nvSpPr>
        <p:spPr>
          <a:xfrm>
            <a:off x="1524000" y="2144487"/>
            <a:ext cx="9144000" cy="1654627"/>
          </a:xfrm>
        </p:spPr>
        <p:txBody>
          <a:bodyPr>
            <a:noAutofit/>
          </a:bodyPr>
          <a:lstStyle/>
          <a:p>
            <a:pPr>
              <a:lnSpc>
                <a:spcPct val="200000"/>
              </a:lnSpc>
            </a:pP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t>Capstone Project1 </a:t>
            </a:r>
            <a:b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br>
            <a:r>
              <a:rPr lang="en-US" sz="2400" b="1" dirty="0">
                <a:solidFill>
                  <a:srgbClr val="0C3571"/>
                </a:solidFill>
                <a:latin typeface="Times New Roman" panose="02020603050405020304" pitchFamily="18" charset="0"/>
                <a:ea typeface="Anantason Bold"/>
                <a:cs typeface="Times New Roman" panose="02020603050405020304" pitchFamily="18" charset="0"/>
                <a:sym typeface="Anantason Bold"/>
              </a:rPr>
              <a:t>MANUFACTURING  EQUIPMENT  OUTPUT PREDICTION  WITH  LINEAR  REGRESSION</a:t>
            </a:r>
            <a:br>
              <a:rPr lang="en-US" sz="1400" b="1" dirty="0">
                <a:solidFill>
                  <a:srgbClr val="0C3571"/>
                </a:solidFill>
                <a:latin typeface="Anantason Bold"/>
                <a:ea typeface="Anantason Bold"/>
                <a:cs typeface="Anantason Bold"/>
                <a:sym typeface="Anantason Bold"/>
              </a:rPr>
            </a:br>
            <a:endParaRPr lang="en-IN" sz="1400" dirty="0"/>
          </a:p>
        </p:txBody>
      </p:sp>
      <p:sp>
        <p:nvSpPr>
          <p:cNvPr id="4" name="TextBox 3">
            <a:extLst>
              <a:ext uri="{FF2B5EF4-FFF2-40B4-BE49-F238E27FC236}">
                <a16:creationId xmlns:a16="http://schemas.microsoft.com/office/drawing/2014/main" id="{B41FCD4F-364D-74AE-4D1A-A3A2E5DC4AED}"/>
              </a:ext>
            </a:extLst>
          </p:cNvPr>
          <p:cNvSpPr txBox="1"/>
          <p:nvPr/>
        </p:nvSpPr>
        <p:spPr>
          <a:xfrm>
            <a:off x="7108724" y="4225385"/>
            <a:ext cx="4538990" cy="1631216"/>
          </a:xfrm>
          <a:prstGeom prst="rect">
            <a:avLst/>
          </a:prstGeom>
          <a:noFill/>
        </p:spPr>
        <p:txBody>
          <a:bodyPr wrap="square" rtlCol="0">
            <a:spAutoFit/>
          </a:bodyPr>
          <a:lstStyle/>
          <a:p>
            <a:r>
              <a:rPr lang="en-IN" sz="2800" dirty="0">
                <a:solidFill>
                  <a:schemeClr val="accent1">
                    <a:lumMod val="75000"/>
                  </a:schemeClr>
                </a:solidFill>
                <a:latin typeface="Times New Roman" panose="02020603050405020304" pitchFamily="18" charset="0"/>
                <a:cs typeface="Times New Roman" panose="02020603050405020304" pitchFamily="18" charset="0"/>
              </a:rPr>
              <a:t>Team Members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T120100204: DINESH 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T120100205: SRUJAN S D</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T120100206: SUDARSHAN</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T120100207: DINESH G</a:t>
            </a:r>
          </a:p>
        </p:txBody>
      </p:sp>
      <p:pic>
        <p:nvPicPr>
          <p:cNvPr id="5" name="Picture 4">
            <a:extLst>
              <a:ext uri="{FF2B5EF4-FFF2-40B4-BE49-F238E27FC236}">
                <a16:creationId xmlns:a16="http://schemas.microsoft.com/office/drawing/2014/main" id="{BE254B8B-72EC-ABF6-5764-F09EC47A123F}"/>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297999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4FF4-00BA-A1C5-E0CC-38FA5B53AD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1916FD-ED1C-0F78-2F73-11D99106FDA9}"/>
              </a:ext>
            </a:extLst>
          </p:cNvPr>
          <p:cNvSpPr txBox="1"/>
          <p:nvPr/>
        </p:nvSpPr>
        <p:spPr>
          <a:xfrm>
            <a:off x="925286" y="566057"/>
            <a:ext cx="10417628" cy="6001643"/>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Table of Contents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Docker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74F2C56-1EF1-7471-9A81-2F481FC85A30}"/>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421595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7E26-275E-FD8A-6700-CDFB83B7B8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EA81C3-AF1D-1FF4-FB6B-3C7CE9321376}"/>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Problem Statement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E151BB3-6F53-C93A-8ACC-EB2AFC126013}"/>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D607FFB0-700E-2AA9-0C95-BD3F1E537363}"/>
              </a:ext>
            </a:extLst>
          </p:cNvPr>
          <p:cNvSpPr txBox="1"/>
          <p:nvPr/>
        </p:nvSpPr>
        <p:spPr>
          <a:xfrm>
            <a:off x="135276" y="2187840"/>
            <a:ext cx="11093164" cy="4431983"/>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manufacturing company faces a challenge in optimizing production efficiency for its injection molding machines. Currently, there is a gap as no reliable method exists to predict the hourly output (parts per hour) based on varying machine settings and operating conditions . This lack of predictability significantly impacts operations, leading to inefficient scheduling, difficulties in production planning, and a reduced ability to quickly identify and address underperforming machines. Therefore, our task is to address this problem by building and comparing predictive models capable of accurately forecasting hourly output.</a:t>
            </a:r>
          </a:p>
          <a:p>
            <a:endParaRPr lang="en-US" dirty="0"/>
          </a:p>
          <a:p>
            <a:endParaRPr lang="en-US" dirty="0"/>
          </a:p>
          <a:p>
            <a:endParaRPr lang="en-US" dirty="0"/>
          </a:p>
          <a:p>
            <a:br>
              <a:rPr lang="en-US" dirty="0"/>
            </a:br>
            <a:endParaRPr lang="en-IN" dirty="0"/>
          </a:p>
        </p:txBody>
      </p:sp>
    </p:spTree>
    <p:extLst>
      <p:ext uri="{BB962C8B-B14F-4D97-AF65-F5344CB8AC3E}">
        <p14:creationId xmlns:p14="http://schemas.microsoft.com/office/powerpoint/2010/main" val="211556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0222-4B3F-8348-FF0E-2F10D5B435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E0FF65-D2D1-64FB-1F01-1A07C63DDF2A}"/>
              </a:ext>
            </a:extLst>
          </p:cNvPr>
          <p:cNvSpPr txBox="1"/>
          <p:nvPr/>
        </p:nvSpPr>
        <p:spPr>
          <a:xfrm>
            <a:off x="502499" y="30480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5C55AB4-477C-5915-6F5B-EDB076153EC4}"/>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E6771A57-A916-702F-06CD-9FB51011DF04}"/>
              </a:ext>
            </a:extLst>
          </p:cNvPr>
          <p:cNvSpPr txBox="1"/>
          <p:nvPr/>
        </p:nvSpPr>
        <p:spPr>
          <a:xfrm>
            <a:off x="502499" y="1232895"/>
            <a:ext cx="11425084" cy="5201424"/>
          </a:xfrm>
          <a:prstGeom prst="rect">
            <a:avLst/>
          </a:prstGeom>
          <a:noFill/>
        </p:spPr>
        <p:txBody>
          <a:bodyPr wrap="square" rtlCol="0">
            <a:spAutoFit/>
          </a:bodyPr>
          <a:lstStyle/>
          <a:p>
            <a:pPr fontAlgn="base"/>
            <a:r>
              <a:rPr lang="en-IN" sz="2000" b="1" dirty="0">
                <a:latin typeface="Times New Roman" panose="02020603050405020304" pitchFamily="18" charset="0"/>
                <a:cs typeface="Times New Roman" panose="02020603050405020304" pitchFamily="18" charset="0"/>
              </a:rPr>
              <a:t>Objective: </a:t>
            </a:r>
          </a:p>
          <a:p>
            <a:pPr algn="ctr" fontAlgn="base"/>
            <a:r>
              <a:rPr lang="en-US" sz="2000" dirty="0">
                <a:latin typeface="Times New Roman" panose="02020603050405020304" pitchFamily="18" charset="0"/>
                <a:cs typeface="Times New Roman" panose="02020603050405020304" pitchFamily="18" charset="0"/>
              </a:rPr>
              <a:t>The goal of this project is to predict the equipment output rate (Parts Per Hour) using various production and process parameters collected from manufacturing systems. Accurate predictions help factory operators optimize resource usage, minimize machine downtime, and enhance overall equipment efficiency (OEE).</a:t>
            </a:r>
            <a:r>
              <a:rPr lang="en-IN" sz="20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Approach:</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Data was collected or generated to represent real-world manufacturing conditions.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Exploratory Data Analysis (EDA) was performed to understand feature relationships and detect patterns.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Features were preprocessed, normalized, and engineered for better model performance.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Linear Regression model</a:t>
            </a:r>
            <a:r>
              <a:rPr lang="en-US" sz="2000" dirty="0">
                <a:latin typeface="Times New Roman" panose="02020603050405020304" pitchFamily="18" charset="0"/>
                <a:cs typeface="Times New Roman" panose="02020603050405020304" pitchFamily="18" charset="0"/>
              </a:rPr>
              <a:t> was trained to learn the relationship between input process parameters and the output (Parts Per Hour).</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The model’s coefficients help in </a:t>
            </a:r>
            <a:r>
              <a:rPr lang="en-US" sz="2000" b="1" dirty="0">
                <a:latin typeface="Times New Roman" panose="02020603050405020304" pitchFamily="18" charset="0"/>
                <a:cs typeface="Times New Roman" panose="02020603050405020304" pitchFamily="18" charset="0"/>
              </a:rPr>
              <a:t>understanding how each feature influences output</a:t>
            </a:r>
            <a:r>
              <a:rPr lang="en-US" sz="2000" dirty="0">
                <a:latin typeface="Times New Roman" panose="02020603050405020304" pitchFamily="18" charset="0"/>
                <a:cs typeface="Times New Roman" panose="02020603050405020304" pitchFamily="18" charset="0"/>
              </a:rPr>
              <a:t>, providing valuable operational insights.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Finally, the model was </a:t>
            </a:r>
            <a:r>
              <a:rPr lang="en-US" sz="2000" b="1" dirty="0">
                <a:latin typeface="Times New Roman" panose="02020603050405020304" pitchFamily="18" charset="0"/>
                <a:cs typeface="Times New Roman" panose="02020603050405020304" pitchFamily="18" charset="0"/>
              </a:rPr>
              <a:t>deployed via a Fast API.</a:t>
            </a:r>
            <a:endParaRPr lang="en-US" sz="20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58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BD52-ED36-EA0E-90C9-7CF17BE5B4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A49387-6A50-6351-7188-762CE09BB55B}"/>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243245C-D953-4580-E659-59C320CAE09E}"/>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0859956A-46B7-E2C8-738C-B4C72CBE4825}"/>
              </a:ext>
            </a:extLst>
          </p:cNvPr>
          <p:cNvSpPr txBox="1"/>
          <p:nvPr/>
        </p:nvSpPr>
        <p:spPr>
          <a:xfrm>
            <a:off x="925286" y="1621971"/>
            <a:ext cx="10933471" cy="3293209"/>
          </a:xfrm>
          <a:prstGeom prst="rect">
            <a:avLst/>
          </a:prstGeom>
          <a:noFill/>
        </p:spPr>
        <p:txBody>
          <a:bodyPr wrap="square" rtlCol="0">
            <a:spAutoFit/>
          </a:bodyPr>
          <a:lstStyle/>
          <a:p>
            <a:pPr fontAlgn="base"/>
            <a:r>
              <a:rPr lang="en-IN" sz="2000" b="1" dirty="0">
                <a:latin typeface="Times New Roman" panose="02020603050405020304" pitchFamily="18" charset="0"/>
                <a:cs typeface="Times New Roman" panose="02020603050405020304" pitchFamily="18" charset="0"/>
              </a:rPr>
              <a:t>Data Source:</a:t>
            </a:r>
            <a:r>
              <a:rPr lang="en-IN" sz="2000" dirty="0">
                <a:latin typeface="Times New Roman" panose="02020603050405020304" pitchFamily="18" charset="0"/>
                <a:cs typeface="Times New Roman" panose="02020603050405020304" pitchFamily="18" charset="0"/>
              </a:rPr>
              <a:t> manufacturing_dataset_1000_samples.csv</a:t>
            </a:r>
            <a:endParaRPr lang="en-IN" sz="2000" b="1" dirty="0">
              <a:latin typeface="Times New Roman" panose="02020603050405020304" pitchFamily="18" charset="0"/>
              <a:cs typeface="Times New Roman" panose="02020603050405020304" pitchFamily="18" charset="0"/>
            </a:endParaRPr>
          </a:p>
          <a:p>
            <a:pPr fontAlgn="base"/>
            <a:r>
              <a:rPr lang="en-IN" sz="2000" b="1" dirty="0">
                <a:latin typeface="Times New Roman" panose="02020603050405020304" pitchFamily="18" charset="0"/>
                <a:cs typeface="Times New Roman" panose="02020603050405020304" pitchFamily="18" charset="0"/>
              </a:rPr>
              <a:t>Loading:</a:t>
            </a:r>
            <a:r>
              <a:rPr lang="en-IN" sz="2000" dirty="0">
                <a:latin typeface="Times New Roman" panose="02020603050405020304" pitchFamily="18" charset="0"/>
                <a:cs typeface="Times New Roman" panose="02020603050405020304" pitchFamily="18" charset="0"/>
              </a:rPr>
              <a:t> The dataset was loaded into a pandas </a:t>
            </a:r>
            <a:r>
              <a:rPr lang="en-IN" sz="2000" dirty="0" err="1">
                <a:latin typeface="Times New Roman" panose="02020603050405020304" pitchFamily="18" charset="0"/>
                <a:cs typeface="Times New Roman" panose="02020603050405020304" pitchFamily="18" charset="0"/>
              </a:rPr>
              <a:t>DataFrame</a:t>
            </a:r>
            <a:r>
              <a:rPr lang="en-IN" sz="2000"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pPr fontAlgn="base"/>
            <a:r>
              <a:rPr lang="en-IN" sz="2000" b="1" dirty="0">
                <a:latin typeface="Times New Roman" panose="02020603050405020304" pitchFamily="18" charset="0"/>
                <a:cs typeface="Times New Roman" panose="02020603050405020304" pitchFamily="18" charset="0"/>
              </a:rPr>
              <a:t>Initial Inspection:</a:t>
            </a:r>
          </a:p>
          <a:p>
            <a:pPr lvl="1" fontAlgn="base"/>
            <a:r>
              <a:rPr lang="en-IN" sz="2000" b="1" dirty="0">
                <a:latin typeface="Times New Roman" panose="02020603050405020304" pitchFamily="18" charset="0"/>
                <a:cs typeface="Times New Roman" panose="02020603050405020304" pitchFamily="18" charset="0"/>
              </a:rPr>
              <a:t>Rows:</a:t>
            </a:r>
            <a:r>
              <a:rPr lang="en-IN" sz="2000" dirty="0">
                <a:latin typeface="Times New Roman" panose="02020603050405020304" pitchFamily="18" charset="0"/>
                <a:cs typeface="Times New Roman" panose="02020603050405020304" pitchFamily="18" charset="0"/>
              </a:rPr>
              <a:t> 1,000</a:t>
            </a:r>
          </a:p>
          <a:p>
            <a:pPr lvl="1" fontAlgn="base"/>
            <a:r>
              <a:rPr lang="en-IN" sz="2000" b="1" dirty="0">
                <a:latin typeface="Times New Roman" panose="02020603050405020304" pitchFamily="18" charset="0"/>
                <a:cs typeface="Times New Roman" panose="02020603050405020304" pitchFamily="18" charset="0"/>
              </a:rPr>
              <a:t>Features: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Injection_Temperature</a:t>
            </a:r>
            <a:r>
              <a:rPr lang="en-IN" sz="2000"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a:p>
            <a:pPr lvl="1" fontAlgn="base"/>
            <a:r>
              <a:rPr lang="en-IN" sz="2000" b="1" dirty="0">
                <a:latin typeface="Times New Roman" panose="02020603050405020304" pitchFamily="18" charset="0"/>
                <a:cs typeface="Times New Roman" panose="02020603050405020304" pitchFamily="18" charset="0"/>
              </a:rPr>
              <a:t>Columns:</a:t>
            </a:r>
            <a:r>
              <a:rPr lang="en-IN" sz="2000" dirty="0">
                <a:latin typeface="Times New Roman" panose="02020603050405020304" pitchFamily="18" charset="0"/>
                <a:cs typeface="Times New Roman" panose="02020603050405020304" pitchFamily="18" charset="0"/>
              </a:rPr>
              <a:t> 19 initially (Timestamp dropped later)</a:t>
            </a:r>
            <a:endParaRPr lang="en-IN" sz="2000" b="1" dirty="0">
              <a:latin typeface="Times New Roman" panose="02020603050405020304" pitchFamily="18" charset="0"/>
              <a:cs typeface="Times New Roman" panose="02020603050405020304" pitchFamily="18" charset="0"/>
            </a:endParaRPr>
          </a:p>
          <a:p>
            <a:pPr lvl="1" fontAlgn="base"/>
            <a:r>
              <a:rPr lang="en-IN" sz="2000" b="1" dirty="0">
                <a:latin typeface="Times New Roman" panose="02020603050405020304" pitchFamily="18" charset="0"/>
                <a:cs typeface="Times New Roman" panose="02020603050405020304" pitchFamily="18" charset="0"/>
              </a:rPr>
              <a:t>Target Variable: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Parts_Per_Hour</a:t>
            </a:r>
            <a:endParaRPr lang="en-IN" sz="2000" b="1" dirty="0">
              <a:latin typeface="Times New Roman" panose="02020603050405020304" pitchFamily="18" charset="0"/>
              <a:cs typeface="Times New Roman" panose="02020603050405020304" pitchFamily="18" charset="0"/>
            </a:endParaRPr>
          </a:p>
          <a:p>
            <a:pPr lvl="1" fontAlgn="base"/>
            <a:r>
              <a:rPr lang="en-IN" sz="2000" dirty="0" err="1">
                <a:latin typeface="Times New Roman" panose="02020603050405020304" pitchFamily="18" charset="0"/>
                <a:cs typeface="Times New Roman" panose="02020603050405020304" pitchFamily="18" charset="0"/>
              </a:rPr>
              <a:t>Cycle_Time</a:t>
            </a:r>
            <a:r>
              <a:rPr lang="en-IN" sz="2000" dirty="0">
                <a:latin typeface="Times New Roman" panose="02020603050405020304" pitchFamily="18" charset="0"/>
                <a:cs typeface="Times New Roman" panose="02020603050405020304" pitchFamily="18" charset="0"/>
              </a:rPr>
              <a:t>, Shift, </a:t>
            </a:r>
            <a:r>
              <a:rPr lang="en-IN" sz="2000" dirty="0" err="1">
                <a:latin typeface="Times New Roman" panose="02020603050405020304" pitchFamily="18" charset="0"/>
                <a:cs typeface="Times New Roman" panose="02020603050405020304" pitchFamily="18" charset="0"/>
              </a:rPr>
              <a:t>Material_Grade</a:t>
            </a:r>
            <a:r>
              <a:rPr lang="en-IN" sz="2000" dirty="0">
                <a:latin typeface="Times New Roman" panose="02020603050405020304" pitchFamily="18" charset="0"/>
                <a:cs typeface="Times New Roman" panose="02020603050405020304" pitchFamily="18" charset="0"/>
              </a:rPr>
              <a:t>, etc.</a:t>
            </a:r>
            <a:endParaRPr lang="en-IN" sz="2000" b="1"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670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C9203-5CAF-C401-17FF-82A26B9F7A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1DDD7F-8258-D3EF-27A7-7CE6861536D7}"/>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85696F0-A230-4170-D65B-94252D73C17B}"/>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3FD4C9A8-7143-4DC6-4C31-74EE0624E362}"/>
              </a:ext>
            </a:extLst>
          </p:cNvPr>
          <p:cNvSpPr txBox="1"/>
          <p:nvPr/>
        </p:nvSpPr>
        <p:spPr>
          <a:xfrm>
            <a:off x="849086" y="1459851"/>
            <a:ext cx="9937603" cy="4832092"/>
          </a:xfrm>
          <a:prstGeom prst="rect">
            <a:avLst/>
          </a:prstGeom>
          <a:noFill/>
        </p:spPr>
        <p:txBody>
          <a:bodyPr wrap="square" rtlCol="0">
            <a:spAutoFit/>
          </a:bodyPr>
          <a:lstStyle/>
          <a:p>
            <a:pPr algn="just" fontAlgn="base"/>
            <a:r>
              <a:rPr lang="en-US" sz="2200" b="1" dirty="0">
                <a:latin typeface="Times New Roman" panose="02020603050405020304" pitchFamily="18" charset="0"/>
                <a:cs typeface="Times New Roman" panose="02020603050405020304" pitchFamily="18" charset="0"/>
              </a:rPr>
              <a:t>Data Types:</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Numeric (float/int): 13 features (e.g., </a:t>
            </a:r>
            <a:r>
              <a:rPr lang="en-US" sz="2200" dirty="0" err="1">
                <a:latin typeface="Times New Roman" panose="02020603050405020304" pitchFamily="18" charset="0"/>
                <a:cs typeface="Times New Roman" panose="02020603050405020304" pitchFamily="18" charset="0"/>
              </a:rPr>
              <a:t>Injection_Pressure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Machine_Age</a:t>
            </a:r>
            <a:r>
              <a:rPr lang="en-US" sz="2200" dirty="0">
                <a:latin typeface="Times New Roman" panose="02020603050405020304" pitchFamily="18" charset="0"/>
                <a:cs typeface="Times New Roman" panose="02020603050405020304" pitchFamily="18" charset="0"/>
              </a:rPr>
              <a:t>)</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Categorical (object): 4 features (Shift, </a:t>
            </a:r>
            <a:r>
              <a:rPr lang="en-US" sz="2200" dirty="0" err="1">
                <a:latin typeface="Times New Roman" panose="02020603050405020304" pitchFamily="18" charset="0"/>
                <a:cs typeface="Times New Roman" panose="02020603050405020304" pitchFamily="18" charset="0"/>
              </a:rPr>
              <a:t>Machine_Type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Material_Grade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Day_of_Week</a:t>
            </a:r>
            <a:r>
              <a:rPr lang="en-US" sz="2200" dirty="0">
                <a:latin typeface="Times New Roman" panose="02020603050405020304" pitchFamily="18" charset="0"/>
                <a:cs typeface="Times New Roman" panose="02020603050405020304" pitchFamily="18" charset="0"/>
              </a:rPr>
              <a:t>)</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Time/Other: 1 feature (Timestamp, dropped before training)</a:t>
            </a:r>
          </a:p>
          <a:p>
            <a:pPr algn="just" fontAlgn="base"/>
            <a:r>
              <a:rPr lang="en-US" sz="2200" b="1" dirty="0">
                <a:latin typeface="Times New Roman" panose="02020603050405020304" pitchFamily="18" charset="0"/>
                <a:cs typeface="Times New Roman" panose="02020603050405020304" pitchFamily="18" charset="0"/>
              </a:rPr>
              <a:t>Missing Values:</a:t>
            </a:r>
            <a:r>
              <a:rPr lang="en-US" sz="2200" dirty="0">
                <a:latin typeface="Times New Roman" panose="02020603050405020304" pitchFamily="18" charset="0"/>
                <a:cs typeface="Times New Roman" panose="02020603050405020304" pitchFamily="18" charset="0"/>
              </a:rPr>
              <a:t> Checked using </a:t>
            </a:r>
            <a:r>
              <a:rPr lang="en-US" sz="2200" dirty="0" err="1">
                <a:latin typeface="Times New Roman" panose="02020603050405020304" pitchFamily="18" charset="0"/>
                <a:cs typeface="Times New Roman" panose="02020603050405020304" pitchFamily="18" charset="0"/>
              </a:rPr>
              <a:t>df.isnull</a:t>
            </a:r>
            <a:r>
              <a:rPr lang="en-US" sz="2200" dirty="0">
                <a:latin typeface="Times New Roman" panose="02020603050405020304" pitchFamily="18" charset="0"/>
                <a:cs typeface="Times New Roman" panose="02020603050405020304" pitchFamily="18" charset="0"/>
              </a:rPr>
              <a:t>().sum(). Found 20 missing values each in:</a:t>
            </a:r>
            <a:endParaRPr lang="en-US" sz="2200" b="1"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Material_Viscosity</a:t>
            </a:r>
            <a:endParaRPr lang="en-US" sz="2200"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Ambient_Temperature</a:t>
            </a:r>
            <a:endParaRPr lang="en-US" sz="2200"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Operator_Experience</a:t>
            </a:r>
            <a:endParaRPr lang="en-US" sz="2200" dirty="0">
              <a:latin typeface="Times New Roman" panose="02020603050405020304" pitchFamily="18" charset="0"/>
              <a:cs typeface="Times New Roman" panose="02020603050405020304" pitchFamily="18" charset="0"/>
            </a:endParaRPr>
          </a:p>
          <a:p>
            <a:pPr lvl="1" algn="just" fontAlgn="base"/>
            <a:r>
              <a:rPr lang="en-US" sz="2200" b="1" dirty="0">
                <a:latin typeface="Times New Roman" panose="02020603050405020304" pitchFamily="18" charset="0"/>
                <a:cs typeface="Times New Roman" panose="02020603050405020304" pitchFamily="18" charset="0"/>
              </a:rPr>
              <a:t>Action:</a:t>
            </a:r>
            <a:r>
              <a:rPr lang="en-US" sz="2200" dirty="0">
                <a:latin typeface="Times New Roman" panose="02020603050405020304" pitchFamily="18" charset="0"/>
                <a:cs typeface="Times New Roman" panose="02020603050405020304" pitchFamily="18" charset="0"/>
              </a:rPr>
              <a:t> Handled using </a:t>
            </a:r>
            <a:r>
              <a:rPr lang="en-US" sz="2200" dirty="0" err="1">
                <a:latin typeface="Times New Roman" panose="02020603050405020304" pitchFamily="18" charset="0"/>
                <a:cs typeface="Times New Roman" panose="02020603050405020304" pitchFamily="18" charset="0"/>
              </a:rPr>
              <a:t>SimpleImputer</a:t>
            </a:r>
            <a:r>
              <a:rPr lang="en-US" sz="2200" dirty="0">
                <a:latin typeface="Times New Roman" panose="02020603050405020304" pitchFamily="18" charset="0"/>
                <a:cs typeface="Times New Roman" panose="02020603050405020304" pitchFamily="18" charset="0"/>
              </a:rPr>
              <a:t> during preprocessing.</a:t>
            </a:r>
            <a:endParaRPr lang="en-US" sz="2200" b="1" dirty="0">
              <a:latin typeface="Times New Roman" panose="02020603050405020304" pitchFamily="18" charset="0"/>
              <a:cs typeface="Times New Roman" panose="02020603050405020304" pitchFamily="18" charset="0"/>
            </a:endParaRPr>
          </a:p>
          <a:p>
            <a:pPr algn="just" fontAlgn="base"/>
            <a:r>
              <a:rPr lang="en-US" sz="2200" b="1" dirty="0">
                <a:latin typeface="Times New Roman" panose="02020603050405020304" pitchFamily="18" charset="0"/>
                <a:cs typeface="Times New Roman" panose="02020603050405020304" pitchFamily="18" charset="0"/>
              </a:rPr>
              <a:t>Statistical Summary </a:t>
            </a:r>
            <a:r>
              <a:rPr lang="en-US"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df.describe</a:t>
            </a:r>
            <a:r>
              <a:rPr lang="en-US" sz="220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Parts_Per_Hour</a:t>
            </a:r>
            <a:r>
              <a:rPr lang="en-US" sz="2200" dirty="0">
                <a:latin typeface="Times New Roman" panose="02020603050405020304" pitchFamily="18" charset="0"/>
                <a:cs typeface="Times New Roman" panose="02020603050405020304" pitchFamily="18" charset="0"/>
              </a:rPr>
              <a:t> (Target) ranges from 5.0 to 68.6, with a mean of </a:t>
            </a:r>
            <a:r>
              <a:rPr lang="en-US" sz="2200" b="1" dirty="0">
                <a:latin typeface="Times New Roman" panose="02020603050405020304" pitchFamily="18" charset="0"/>
                <a:cs typeface="Times New Roman" panose="02020603050405020304" pitchFamily="18" charset="0"/>
              </a:rPr>
              <a:t>29.30</a:t>
            </a:r>
            <a:r>
              <a:rPr lang="en-US" sz="2200" dirty="0">
                <a:latin typeface="Times New Roman" panose="02020603050405020304" pitchFamily="18" charset="0"/>
                <a:cs typeface="Times New Roman" panose="02020603050405020304" pitchFamily="18" charset="0"/>
              </a:rPr>
              <a:t>.</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Features like </a:t>
            </a:r>
            <a:r>
              <a:rPr lang="en-US" sz="2200" dirty="0" err="1">
                <a:latin typeface="Times New Roman" panose="02020603050405020304" pitchFamily="18" charset="0"/>
                <a:cs typeface="Times New Roman" panose="02020603050405020304" pitchFamily="18" charset="0"/>
              </a:rPr>
              <a:t>Cycle_Time</a:t>
            </a:r>
            <a:r>
              <a:rPr lang="en-US" sz="2200" dirty="0">
                <a:latin typeface="Times New Roman" panose="02020603050405020304" pitchFamily="18" charset="0"/>
                <a:cs typeface="Times New Roman" panose="02020603050405020304" pitchFamily="18" charset="0"/>
              </a:rPr>
              <a:t> (mean: 35.85) and </a:t>
            </a:r>
            <a:r>
              <a:rPr lang="en-US" sz="2200" dirty="0" err="1">
                <a:latin typeface="Times New Roman" panose="02020603050405020304" pitchFamily="18" charset="0"/>
                <a:cs typeface="Times New Roman" panose="02020603050405020304" pitchFamily="18" charset="0"/>
              </a:rPr>
              <a:t>Material_Viscosity</a:t>
            </a:r>
            <a:r>
              <a:rPr lang="en-US" sz="2200" dirty="0">
                <a:latin typeface="Times New Roman" panose="02020603050405020304" pitchFamily="18" charset="0"/>
                <a:cs typeface="Times New Roman" panose="02020603050405020304" pitchFamily="18" charset="0"/>
              </a:rPr>
              <a:t> (mean: 251.63) show variation.</a:t>
            </a:r>
          </a:p>
        </p:txBody>
      </p:sp>
    </p:spTree>
    <p:extLst>
      <p:ext uri="{BB962C8B-B14F-4D97-AF65-F5344CB8AC3E}">
        <p14:creationId xmlns:p14="http://schemas.microsoft.com/office/powerpoint/2010/main" val="291324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8D18A-46DB-F5D1-756C-F184C084F7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93F408-C014-7315-2453-24243AE17923}"/>
              </a:ext>
            </a:extLst>
          </p:cNvPr>
          <p:cNvSpPr txBox="1"/>
          <p:nvPr/>
        </p:nvSpPr>
        <p:spPr>
          <a:xfrm>
            <a:off x="381000" y="9883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B1CE53B-57E3-B251-26CE-AF290EB8254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8388CB8E-8BA2-87A1-3EC8-63B0C9DC8FA7}"/>
              </a:ext>
            </a:extLst>
          </p:cNvPr>
          <p:cNvSpPr txBox="1"/>
          <p:nvPr/>
        </p:nvSpPr>
        <p:spPr>
          <a:xfrm>
            <a:off x="560438" y="1671484"/>
            <a:ext cx="5289755" cy="1754326"/>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Visualized relationships between process parameters and output.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Analyzed feature distributions and outliers.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Used correlation heatmap for numeric feature relationships.</a:t>
            </a:r>
          </a:p>
        </p:txBody>
      </p:sp>
      <p:pic>
        <p:nvPicPr>
          <p:cNvPr id="4" name="Picture 3">
            <a:extLst>
              <a:ext uri="{FF2B5EF4-FFF2-40B4-BE49-F238E27FC236}">
                <a16:creationId xmlns:a16="http://schemas.microsoft.com/office/drawing/2014/main" id="{367ED71E-4928-0D91-033D-6A15AC305FDC}"/>
              </a:ext>
            </a:extLst>
          </p:cNvPr>
          <p:cNvPicPr>
            <a:picLocks noChangeAspect="1"/>
          </p:cNvPicPr>
          <p:nvPr/>
        </p:nvPicPr>
        <p:blipFill>
          <a:blip r:embed="rId3"/>
          <a:stretch>
            <a:fillRect/>
          </a:stretch>
        </p:blipFill>
        <p:spPr>
          <a:xfrm>
            <a:off x="6096000" y="1360714"/>
            <a:ext cx="4803058" cy="3883435"/>
          </a:xfrm>
          <a:prstGeom prst="rect">
            <a:avLst/>
          </a:prstGeom>
        </p:spPr>
      </p:pic>
      <p:pic>
        <p:nvPicPr>
          <p:cNvPr id="6" name="Picture 5">
            <a:extLst>
              <a:ext uri="{FF2B5EF4-FFF2-40B4-BE49-F238E27FC236}">
                <a16:creationId xmlns:a16="http://schemas.microsoft.com/office/drawing/2014/main" id="{BD993686-734C-3AA5-EAD7-5C27980C6BBB}"/>
              </a:ext>
            </a:extLst>
          </p:cNvPr>
          <p:cNvPicPr>
            <a:picLocks noChangeAspect="1"/>
          </p:cNvPicPr>
          <p:nvPr/>
        </p:nvPicPr>
        <p:blipFill>
          <a:blip r:embed="rId4"/>
          <a:stretch>
            <a:fillRect/>
          </a:stretch>
        </p:blipFill>
        <p:spPr>
          <a:xfrm>
            <a:off x="560438" y="4186391"/>
            <a:ext cx="4906296" cy="2000250"/>
          </a:xfrm>
          <a:prstGeom prst="rect">
            <a:avLst/>
          </a:prstGeom>
        </p:spPr>
      </p:pic>
    </p:spTree>
    <p:extLst>
      <p:ext uri="{BB962C8B-B14F-4D97-AF65-F5344CB8AC3E}">
        <p14:creationId xmlns:p14="http://schemas.microsoft.com/office/powerpoint/2010/main" val="78764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8CB8B-FB27-E31A-1192-5DD7AD260C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AE09B7-84D1-C90F-F404-83250821B234}"/>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FE86D32-2C91-E5D4-CDFA-9F899E55E9BC}"/>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4CBAFD61-D828-3A08-662A-A54ED78BA68E}"/>
              </a:ext>
            </a:extLst>
          </p:cNvPr>
          <p:cNvSpPr txBox="1"/>
          <p:nvPr/>
        </p:nvSpPr>
        <p:spPr>
          <a:xfrm>
            <a:off x="560438" y="1750142"/>
            <a:ext cx="11071123" cy="4493538"/>
          </a:xfrm>
          <a:prstGeom prst="rect">
            <a:avLst/>
          </a:prstGeom>
          <a:noFill/>
        </p:spPr>
        <p:txBody>
          <a:bodyPr wrap="square" rtlCol="0">
            <a:spAutoFit/>
          </a:bodyPr>
          <a:lstStyle/>
          <a:p>
            <a:pPr fontAlgn="base"/>
            <a:r>
              <a:rPr lang="en-IN" sz="2200" dirty="0">
                <a:latin typeface="Times New Roman" panose="02020603050405020304" pitchFamily="18" charset="0"/>
                <a:cs typeface="Times New Roman" panose="02020603050405020304" pitchFamily="18" charset="0"/>
              </a:rPr>
              <a:t>Feature Selection:</a:t>
            </a:r>
          </a:p>
          <a:p>
            <a:pPr marL="800100" lvl="1"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Target (y): </a:t>
            </a:r>
            <a:r>
              <a:rPr lang="en-IN" sz="2200" dirty="0" err="1">
                <a:latin typeface="Times New Roman" panose="02020603050405020304" pitchFamily="18" charset="0"/>
                <a:cs typeface="Times New Roman" panose="02020603050405020304" pitchFamily="18" charset="0"/>
              </a:rPr>
              <a:t>Parts_Per_Hour</a:t>
            </a:r>
            <a:endParaRPr lang="en-IN" sz="2200" dirty="0">
              <a:latin typeface="Times New Roman" panose="02020603050405020304" pitchFamily="18" charset="0"/>
              <a:cs typeface="Times New Roman" panose="02020603050405020304" pitchFamily="18" charset="0"/>
            </a:endParaRPr>
          </a:p>
          <a:p>
            <a:pPr marL="800100" lvl="1"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Features (X): All columns except </a:t>
            </a:r>
            <a:r>
              <a:rPr lang="en-IN" sz="2200" dirty="0" err="1">
                <a:latin typeface="Times New Roman" panose="02020603050405020304" pitchFamily="18" charset="0"/>
                <a:cs typeface="Times New Roman" panose="02020603050405020304" pitchFamily="18" charset="0"/>
              </a:rPr>
              <a:t>Parts_Per_Hour</a:t>
            </a:r>
            <a:r>
              <a:rPr lang="en-IN" sz="2200" dirty="0">
                <a:latin typeface="Times New Roman" panose="02020603050405020304" pitchFamily="18" charset="0"/>
                <a:cs typeface="Times New Roman" panose="02020603050405020304" pitchFamily="18" charset="0"/>
              </a:rPr>
              <a:t> and Timestamp</a:t>
            </a:r>
          </a:p>
          <a:p>
            <a:pPr fontAlgn="base"/>
            <a:r>
              <a:rPr lang="en-IN" sz="2200" dirty="0">
                <a:latin typeface="Times New Roman" panose="02020603050405020304" pitchFamily="18" charset="0"/>
                <a:cs typeface="Times New Roman" panose="02020603050405020304" pitchFamily="18" charset="0"/>
              </a:rPr>
              <a:t>Preprocessing Pipeline (ColumnTransformer):</a:t>
            </a:r>
          </a:p>
          <a:p>
            <a:pPr lvl="1" fontAlgn="base"/>
            <a:r>
              <a:rPr lang="en-IN" sz="2200" dirty="0">
                <a:latin typeface="Times New Roman" panose="02020603050405020304" pitchFamily="18" charset="0"/>
                <a:cs typeface="Times New Roman" panose="02020603050405020304" pitchFamily="18" charset="0"/>
              </a:rPr>
              <a:t> Numerical Features:</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Imputed missing values using </a:t>
            </a:r>
            <a:r>
              <a:rPr lang="en-IN" sz="2200" dirty="0" err="1">
                <a:latin typeface="Times New Roman" panose="02020603050405020304" pitchFamily="18" charset="0"/>
                <a:cs typeface="Times New Roman" panose="02020603050405020304" pitchFamily="18" charset="0"/>
              </a:rPr>
              <a:t>SimpleImputer</a:t>
            </a:r>
            <a:r>
              <a:rPr lang="en-IN" sz="2200" dirty="0">
                <a:latin typeface="Times New Roman" panose="02020603050405020304" pitchFamily="18" charset="0"/>
                <a:cs typeface="Times New Roman" panose="02020603050405020304" pitchFamily="18" charset="0"/>
              </a:rPr>
              <a:t> (median strategy).</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Scaled using StandardScaler.</a:t>
            </a:r>
          </a:p>
          <a:p>
            <a:pPr lvl="1" fontAlgn="base"/>
            <a:r>
              <a:rPr lang="en-IN" sz="2200" dirty="0">
                <a:latin typeface="Times New Roman" panose="02020603050405020304" pitchFamily="18" charset="0"/>
                <a:cs typeface="Times New Roman" panose="02020603050405020304" pitchFamily="18" charset="0"/>
              </a:rPr>
              <a:t>Categorical Features:</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Imputed missing values using </a:t>
            </a:r>
            <a:r>
              <a:rPr lang="en-IN" sz="2200" dirty="0" err="1">
                <a:latin typeface="Times New Roman" panose="02020603050405020304" pitchFamily="18" charset="0"/>
                <a:cs typeface="Times New Roman" panose="02020603050405020304" pitchFamily="18" charset="0"/>
              </a:rPr>
              <a:t>SimpleImputer</a:t>
            </a:r>
            <a:r>
              <a:rPr lang="en-IN" sz="2200" dirty="0">
                <a:latin typeface="Times New Roman" panose="02020603050405020304" pitchFamily="18" charset="0"/>
                <a:cs typeface="Times New Roman" panose="02020603050405020304" pitchFamily="18" charset="0"/>
              </a:rPr>
              <a:t> (constant strategy, fill='missing’).</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Encoded using </a:t>
            </a:r>
            <a:r>
              <a:rPr lang="en-IN" sz="2200" dirty="0" err="1">
                <a:latin typeface="Times New Roman" panose="02020603050405020304" pitchFamily="18" charset="0"/>
                <a:cs typeface="Times New Roman" panose="02020603050405020304" pitchFamily="18" charset="0"/>
              </a:rPr>
              <a:t>OneHotEncoder</a:t>
            </a:r>
            <a:r>
              <a:rPr lang="en-IN" sz="2200" dirty="0">
                <a:latin typeface="Times New Roman" panose="02020603050405020304" pitchFamily="18" charset="0"/>
                <a:cs typeface="Times New Roman" panose="02020603050405020304" pitchFamily="18" charset="0"/>
              </a:rPr>
              <a:t>.</a:t>
            </a:r>
          </a:p>
          <a:p>
            <a:pPr fontAlgn="base"/>
            <a:r>
              <a:rPr lang="en-IN" sz="2200" dirty="0">
                <a:latin typeface="Times New Roman" panose="02020603050405020304" pitchFamily="18" charset="0"/>
                <a:cs typeface="Times New Roman" panose="02020603050405020304" pitchFamily="18" charset="0"/>
              </a:rPr>
              <a:t>Train-Test Split:</a:t>
            </a:r>
          </a:p>
          <a:p>
            <a:pPr marL="800100" lvl="1"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 split: </a:t>
            </a:r>
            <a:r>
              <a:rPr lang="en-IN" sz="2200" b="1" dirty="0">
                <a:latin typeface="Times New Roman" panose="02020603050405020304" pitchFamily="18" charset="0"/>
                <a:cs typeface="Times New Roman" panose="02020603050405020304" pitchFamily="18" charset="0"/>
              </a:rPr>
              <a:t>80% Training Set</a:t>
            </a:r>
            <a:r>
              <a:rPr lang="en-IN" sz="2200" dirty="0">
                <a:latin typeface="Times New Roman" panose="02020603050405020304" pitchFamily="18" charset="0"/>
                <a:cs typeface="Times New Roman" panose="02020603050405020304" pitchFamily="18" charset="0"/>
              </a:rPr>
              <a:t> (800 samples), </a:t>
            </a:r>
            <a:r>
              <a:rPr lang="en-IN" sz="2200" b="1" dirty="0">
                <a:latin typeface="Times New Roman" panose="02020603050405020304" pitchFamily="18" charset="0"/>
                <a:cs typeface="Times New Roman" panose="02020603050405020304" pitchFamily="18" charset="0"/>
              </a:rPr>
              <a:t>20% Test Set</a:t>
            </a:r>
            <a:r>
              <a:rPr lang="en-IN" sz="2200" dirty="0">
                <a:latin typeface="Times New Roman" panose="02020603050405020304" pitchFamily="18" charset="0"/>
                <a:cs typeface="Times New Roman" panose="02020603050405020304" pitchFamily="18" charset="0"/>
              </a:rPr>
              <a:t> (200 samples). </a:t>
            </a:r>
            <a:r>
              <a:rPr lang="en-IN" sz="2200" dirty="0" err="1">
                <a:latin typeface="Times New Roman" panose="02020603050405020304" pitchFamily="18" charset="0"/>
                <a:cs typeface="Times New Roman" panose="02020603050405020304" pitchFamily="18" charset="0"/>
              </a:rPr>
              <a:t>random_state</a:t>
            </a:r>
            <a:r>
              <a:rPr lang="en-IN" sz="2200" dirty="0">
                <a:latin typeface="Times New Roman" panose="02020603050405020304" pitchFamily="18" charset="0"/>
                <a:cs typeface="Times New Roman" panose="02020603050405020304" pitchFamily="18" charset="0"/>
              </a:rPr>
              <a:t>=42 used for reproducibility.</a:t>
            </a:r>
          </a:p>
        </p:txBody>
      </p:sp>
    </p:spTree>
    <p:extLst>
      <p:ext uri="{BB962C8B-B14F-4D97-AF65-F5344CB8AC3E}">
        <p14:creationId xmlns:p14="http://schemas.microsoft.com/office/powerpoint/2010/main" val="225704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2712-5925-9393-290C-6311D67994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CEF693-3F1B-C86F-2FE2-E46BBF83FD9B}"/>
              </a:ext>
            </a:extLst>
          </p:cNvPr>
          <p:cNvSpPr txBox="1"/>
          <p:nvPr/>
        </p:nvSpPr>
        <p:spPr>
          <a:xfrm>
            <a:off x="381000" y="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6A1A8DE-0F20-800C-3FA2-50793CC053F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61522B2B-AB47-8FCC-ABD9-B3C32D47CFC2}"/>
              </a:ext>
            </a:extLst>
          </p:cNvPr>
          <p:cNvSpPr txBox="1"/>
          <p:nvPr/>
        </p:nvSpPr>
        <p:spPr>
          <a:xfrm>
            <a:off x="519880" y="1261884"/>
            <a:ext cx="11152239" cy="4893647"/>
          </a:xfrm>
          <a:prstGeom prst="rect">
            <a:avLst/>
          </a:prstGeom>
          <a:noFill/>
        </p:spPr>
        <p:txBody>
          <a:bodyPr wrap="square" rtlCol="0">
            <a:spAutoFit/>
          </a:bodyPr>
          <a:lstStyle/>
          <a:p>
            <a:pPr fontAlgn="base"/>
            <a:r>
              <a:rPr lang="en-IN" sz="2400" b="1" dirty="0">
                <a:latin typeface="Times New Roman" panose="02020603050405020304" pitchFamily="18" charset="0"/>
                <a:cs typeface="Times New Roman" panose="02020603050405020304" pitchFamily="18" charset="0"/>
              </a:rPr>
              <a:t>Model Choice:</a:t>
            </a:r>
            <a:r>
              <a:rPr lang="en-IN" sz="2400" dirty="0">
                <a:latin typeface="Times New Roman" panose="02020603050405020304" pitchFamily="18" charset="0"/>
                <a:cs typeface="Times New Roman" panose="02020603050405020304" pitchFamily="18" charset="0"/>
              </a:rPr>
              <a:t> Standard </a:t>
            </a:r>
            <a:r>
              <a:rPr lang="en-IN" sz="2400" dirty="0" err="1">
                <a:latin typeface="Times New Roman" panose="02020603050405020304" pitchFamily="18" charset="0"/>
                <a:cs typeface="Times New Roman" panose="02020603050405020304" pitchFamily="18" charset="0"/>
              </a:rPr>
              <a:t>LinearRegression</a:t>
            </a:r>
            <a:r>
              <a:rPr lang="en-IN" sz="2400" dirty="0">
                <a:latin typeface="Times New Roman" panose="02020603050405020304" pitchFamily="18" charset="0"/>
                <a:cs typeface="Times New Roman" panose="02020603050405020304" pitchFamily="18" charset="0"/>
              </a:rPr>
              <a:t> from scikit-learn.</a:t>
            </a:r>
            <a:endParaRPr lang="en-IN" sz="2400" b="1" dirty="0">
              <a:latin typeface="Times New Roman" panose="02020603050405020304" pitchFamily="18" charset="0"/>
              <a:cs typeface="Times New Roman" panose="02020603050405020304" pitchFamily="18" charset="0"/>
            </a:endParaRP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Establishes a baseline performance.</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Interpretable coefficients.</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Preprocessing Pipeline (</a:t>
            </a:r>
            <a:r>
              <a:rPr lang="en-IN" sz="2400" dirty="0" err="1">
                <a:latin typeface="Times New Roman" panose="02020603050405020304" pitchFamily="18" charset="0"/>
                <a:cs typeface="Times New Roman" panose="02020603050405020304" pitchFamily="18" charset="0"/>
              </a:rPr>
              <a:t>preprocessor_std</a:t>
            </a:r>
            <a:r>
              <a:rPr lang="en-IN" sz="2400" dirty="0">
                <a:latin typeface="Times New Roman" panose="02020603050405020304" pitchFamily="18" charset="0"/>
                <a:cs typeface="Times New Roman" panose="02020603050405020304" pitchFamily="18" charset="0"/>
              </a:rPr>
              <a:t>):</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Handles missing values (Imputation).</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Scales numerical features (StandardScaler).</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Encodes categorical features (</a:t>
            </a:r>
            <a:r>
              <a:rPr lang="en-IN" sz="2400" dirty="0" err="1">
                <a:latin typeface="Times New Roman" panose="02020603050405020304" pitchFamily="18" charset="0"/>
                <a:cs typeface="Times New Roman" panose="02020603050405020304" pitchFamily="18" charset="0"/>
              </a:rPr>
              <a:t>OneHotEncoder</a:t>
            </a:r>
            <a:r>
              <a:rPr lang="en-IN" sz="2400" dirty="0">
                <a:latin typeface="Times New Roman" panose="02020603050405020304" pitchFamily="18" charset="0"/>
                <a:cs typeface="Times New Roman" panose="02020603050405020304" pitchFamily="18" charset="0"/>
              </a:rPr>
              <a:t>).</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Integrated Workflow (Pipeline):</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Combined the preprocessing steps and the </a:t>
            </a:r>
            <a:r>
              <a:rPr lang="en-IN" sz="2400" dirty="0" err="1">
                <a:latin typeface="Times New Roman" panose="02020603050405020304" pitchFamily="18" charset="0"/>
                <a:cs typeface="Times New Roman" panose="02020603050405020304" pitchFamily="18" charset="0"/>
              </a:rPr>
              <a:t>LinearRegression</a:t>
            </a:r>
            <a:r>
              <a:rPr lang="en-IN" sz="2400" dirty="0">
                <a:latin typeface="Times New Roman" panose="02020603050405020304" pitchFamily="18" charset="0"/>
                <a:cs typeface="Times New Roman" panose="02020603050405020304" pitchFamily="18" charset="0"/>
              </a:rPr>
              <a:t> model into a single object.</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Ensures consistent data transformation during training and prediction.</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Training: The complete </a:t>
            </a:r>
            <a:r>
              <a:rPr lang="en-IN" sz="2400" dirty="0" err="1">
                <a:latin typeface="Times New Roman" panose="02020603050405020304" pitchFamily="18" charset="0"/>
                <a:cs typeface="Times New Roman" panose="02020603050405020304" pitchFamily="18" charset="0"/>
              </a:rPr>
              <a:t>pipeline_lr</a:t>
            </a:r>
            <a:r>
              <a:rPr lang="en-IN" sz="2400" dirty="0">
                <a:latin typeface="Times New Roman" panose="02020603050405020304" pitchFamily="18" charset="0"/>
                <a:cs typeface="Times New Roman" panose="02020603050405020304" pitchFamily="18" charset="0"/>
              </a:rPr>
              <a:t> was trained using the .fit() method on the </a:t>
            </a:r>
            <a:r>
              <a:rPr lang="en-IN" sz="2400" b="1" dirty="0">
                <a:latin typeface="Times New Roman" panose="02020603050405020304" pitchFamily="18" charset="0"/>
                <a:cs typeface="Times New Roman" panose="02020603050405020304" pitchFamily="18" charset="0"/>
              </a:rPr>
              <a:t>80% training data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X_train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y_train</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84115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61F9-3D54-AE2B-6153-934F631B86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7ADD1F-D45A-8F7D-1C92-108B6142B7D1}"/>
              </a:ext>
            </a:extLst>
          </p:cNvPr>
          <p:cNvSpPr txBox="1"/>
          <p:nvPr/>
        </p:nvSpPr>
        <p:spPr>
          <a:xfrm>
            <a:off x="381000" y="478425"/>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E615959-485D-C178-225B-384D3709F9D6}"/>
              </a:ext>
            </a:extLst>
          </p:cNvPr>
          <p:cNvPicPr>
            <a:picLocks noChangeAspect="1"/>
          </p:cNvPicPr>
          <p:nvPr/>
        </p:nvPicPr>
        <p:blipFill>
          <a:blip r:embed="rId3"/>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46ED5D58-34F2-6409-D847-D8FA4C8C44D9}"/>
              </a:ext>
            </a:extLst>
          </p:cNvPr>
          <p:cNvSpPr txBox="1"/>
          <p:nvPr/>
        </p:nvSpPr>
        <p:spPr>
          <a:xfrm>
            <a:off x="550607" y="1740309"/>
            <a:ext cx="6931742"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Model Evaluation - Regression Metrics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Primary Metrics:</a:t>
            </a:r>
            <a:r>
              <a:rPr lang="en-US" sz="2400" dirty="0">
                <a:latin typeface="Times New Roman" panose="02020603050405020304" pitchFamily="18" charset="0"/>
                <a:cs typeface="Times New Roman" panose="02020603050405020304" pitchFamily="18" charset="0"/>
              </a:rPr>
              <a:t> Since this is a regression task (predicting a number), R-squared and RMSE are key.</a:t>
            </a:r>
          </a:p>
          <a:p>
            <a:r>
              <a:rPr lang="en-US" sz="2400" dirty="0">
                <a:latin typeface="Times New Roman" panose="02020603050405020304" pitchFamily="18" charset="0"/>
                <a:cs typeface="Times New Roman" panose="02020603050405020304" pitchFamily="18" charset="0"/>
              </a:rPr>
              <a:t>Performance on Test Set:</a:t>
            </a:r>
          </a:p>
          <a:p>
            <a:r>
              <a:rPr lang="en-US" sz="2400" b="1" dirty="0">
                <a:latin typeface="Times New Roman" panose="02020603050405020304" pitchFamily="18" charset="0"/>
                <a:cs typeface="Times New Roman" panose="02020603050405020304" pitchFamily="18" charset="0"/>
              </a:rPr>
              <a:t>R-squared (R²):</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0.9057 (or 90.57%)</a:t>
            </a:r>
            <a:r>
              <a:rPr lang="en-US" sz="2400" dirty="0">
                <a:latin typeface="Times New Roman" panose="02020603050405020304" pitchFamily="18" charset="0"/>
                <a:cs typeface="Times New Roman" panose="02020603050405020304" pitchFamily="18" charset="0"/>
              </a:rPr>
              <a:t> </a:t>
            </a:r>
          </a:p>
          <a:p>
            <a:r>
              <a:rPr lang="en-US" sz="2400" i="1" dirty="0">
                <a:latin typeface="Times New Roman" panose="02020603050405020304" pitchFamily="18" charset="0"/>
                <a:cs typeface="Times New Roman" panose="02020603050405020304" pitchFamily="18" charset="0"/>
              </a:rPr>
              <a:t>Meaning:</a:t>
            </a:r>
            <a:r>
              <a:rPr lang="en-US" sz="2400" dirty="0">
                <a:latin typeface="Times New Roman" panose="02020603050405020304" pitchFamily="18" charset="0"/>
                <a:cs typeface="Times New Roman" panose="02020603050405020304" pitchFamily="18" charset="0"/>
              </a:rPr>
              <a:t> The model explains </a:t>
            </a:r>
            <a:r>
              <a:rPr lang="en-US" sz="2400" b="1" dirty="0">
                <a:latin typeface="Times New Roman" panose="02020603050405020304" pitchFamily="18" charset="0"/>
                <a:cs typeface="Times New Roman" panose="02020603050405020304" pitchFamily="18" charset="0"/>
              </a:rPr>
              <a:t>90.57%</a:t>
            </a:r>
            <a:r>
              <a:rPr lang="en-US" sz="2400" dirty="0">
                <a:latin typeface="Times New Roman" panose="02020603050405020304" pitchFamily="18" charset="0"/>
                <a:cs typeface="Times New Roman" panose="02020603050405020304" pitchFamily="18" charset="0"/>
              </a:rPr>
              <a:t> of the variance in </a:t>
            </a:r>
            <a:r>
              <a:rPr lang="en-US" sz="2400" dirty="0" err="1">
                <a:latin typeface="Times New Roman" panose="02020603050405020304" pitchFamily="18" charset="0"/>
                <a:cs typeface="Times New Roman" panose="02020603050405020304" pitchFamily="18" charset="0"/>
              </a:rPr>
              <a:t>Parts_Per_Hour</a:t>
            </a:r>
            <a:r>
              <a:rPr lang="en-US" sz="2400" dirty="0">
                <a:latin typeface="Times New Roman" panose="02020603050405020304" pitchFamily="18" charset="0"/>
                <a:cs typeface="Times New Roman" panose="02020603050405020304" pitchFamily="18" charset="0"/>
              </a:rPr>
              <a:t>. This indicates a </a:t>
            </a:r>
            <a:r>
              <a:rPr lang="en-US" sz="2400" b="1" dirty="0">
                <a:latin typeface="Times New Roman" panose="02020603050405020304" pitchFamily="18" charset="0"/>
                <a:cs typeface="Times New Roman" panose="02020603050405020304" pitchFamily="18" charset="0"/>
              </a:rPr>
              <a:t>very good fit</a:t>
            </a:r>
            <a:r>
              <a:rPr lang="en-US" sz="2400" dirty="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Root Mean Squared Error (RMSE):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3.51 parts</a:t>
            </a:r>
            <a:endParaRPr lang="en-US" sz="2400"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Meaning:</a:t>
            </a:r>
            <a:r>
              <a:rPr lang="en-US" sz="2400" dirty="0">
                <a:latin typeface="Times New Roman" panose="02020603050405020304" pitchFamily="18" charset="0"/>
                <a:cs typeface="Times New Roman" panose="02020603050405020304" pitchFamily="18" charset="0"/>
              </a:rPr>
              <a:t> On average, the model's prediction error is about </a:t>
            </a:r>
            <a:r>
              <a:rPr lang="en-US" sz="2400" b="1" dirty="0">
                <a:latin typeface="Times New Roman" panose="02020603050405020304" pitchFamily="18" charset="0"/>
                <a:cs typeface="Times New Roman" panose="02020603050405020304" pitchFamily="18" charset="0"/>
              </a:rPr>
              <a:t>3.51 parts</a:t>
            </a:r>
            <a:r>
              <a:rPr lang="en-US" sz="2400" dirty="0">
                <a:latin typeface="Times New Roman" panose="02020603050405020304" pitchFamily="18" charset="0"/>
                <a:cs typeface="Times New Roman" panose="02020603050405020304" pitchFamily="18" charset="0"/>
              </a:rPr>
              <a:t> per hour.</a:t>
            </a:r>
          </a:p>
          <a:p>
            <a:r>
              <a:rPr lang="en-US" sz="2400" b="1" dirty="0">
                <a:latin typeface="Times New Roman" panose="02020603050405020304" pitchFamily="18" charset="0"/>
                <a:cs typeface="Times New Roman" panose="02020603050405020304" pitchFamily="18" charset="0"/>
              </a:rPr>
              <a:t>Mean Squared Error (MSE):</a:t>
            </a:r>
            <a:r>
              <a:rPr lang="en-US" sz="2400" dirty="0">
                <a:latin typeface="Times New Roman" panose="02020603050405020304" pitchFamily="18" charset="0"/>
                <a:cs typeface="Times New Roman" panose="02020603050405020304" pitchFamily="18" charset="0"/>
              </a:rPr>
              <a:t> 12.30</a:t>
            </a:r>
          </a:p>
          <a:p>
            <a:r>
              <a:rPr lang="en-US" sz="2400" b="1" dirty="0">
                <a:latin typeface="Times New Roman" panose="02020603050405020304" pitchFamily="18" charset="0"/>
                <a:cs typeface="Times New Roman" panose="02020603050405020304" pitchFamily="18" charset="0"/>
              </a:rPr>
              <a:t>Regularization(Lasso): R-</a:t>
            </a:r>
            <a:r>
              <a:rPr lang="en-US" sz="2400" b="1" dirty="0" err="1">
                <a:latin typeface="Times New Roman" panose="02020603050405020304" pitchFamily="18" charset="0"/>
                <a:cs typeface="Times New Roman" panose="02020603050405020304" pitchFamily="18" charset="0"/>
              </a:rPr>
              <a:t>Sqare</a:t>
            </a:r>
            <a:r>
              <a:rPr lang="en-US" sz="2400" b="1" dirty="0">
                <a:latin typeface="Times New Roman" panose="02020603050405020304" pitchFamily="18" charset="0"/>
                <a:cs typeface="Times New Roman" panose="02020603050405020304" pitchFamily="18" charset="0"/>
              </a:rPr>
              <a:t>  : </a:t>
            </a:r>
            <a:r>
              <a:rPr lang="en-US" sz="2400" b="1" dirty="0">
                <a:highlight>
                  <a:srgbClr val="FFFF00"/>
                </a:highlight>
                <a:latin typeface="Times New Roman" panose="02020603050405020304" pitchFamily="18" charset="0"/>
                <a:cs typeface="Times New Roman" panose="02020603050405020304" pitchFamily="18" charset="0"/>
              </a:rPr>
              <a:t>0.9061</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D4CE05-0AE5-CFB2-08AD-245A7006CF54}"/>
              </a:ext>
            </a:extLst>
          </p:cNvPr>
          <p:cNvPicPr>
            <a:picLocks noChangeAspect="1"/>
          </p:cNvPicPr>
          <p:nvPr/>
        </p:nvPicPr>
        <p:blipFill>
          <a:blip r:embed="rId4"/>
          <a:stretch>
            <a:fillRect/>
          </a:stretch>
        </p:blipFill>
        <p:spPr>
          <a:xfrm>
            <a:off x="7482349" y="1360714"/>
            <a:ext cx="4233401" cy="2694039"/>
          </a:xfrm>
          <a:prstGeom prst="rect">
            <a:avLst/>
          </a:prstGeom>
        </p:spPr>
      </p:pic>
      <p:pic>
        <p:nvPicPr>
          <p:cNvPr id="7" name="Picture 6">
            <a:extLst>
              <a:ext uri="{FF2B5EF4-FFF2-40B4-BE49-F238E27FC236}">
                <a16:creationId xmlns:a16="http://schemas.microsoft.com/office/drawing/2014/main" id="{C025FCFB-98E5-7EB3-748F-047A83AFF833}"/>
              </a:ext>
            </a:extLst>
          </p:cNvPr>
          <p:cNvPicPr>
            <a:picLocks noChangeAspect="1"/>
          </p:cNvPicPr>
          <p:nvPr/>
        </p:nvPicPr>
        <p:blipFill>
          <a:blip r:embed="rId5"/>
          <a:stretch>
            <a:fillRect/>
          </a:stretch>
        </p:blipFill>
        <p:spPr>
          <a:xfrm>
            <a:off x="7561006" y="3790950"/>
            <a:ext cx="4154744" cy="2762250"/>
          </a:xfrm>
          <a:prstGeom prst="rect">
            <a:avLst/>
          </a:prstGeom>
        </p:spPr>
      </p:pic>
    </p:spTree>
    <p:extLst>
      <p:ext uri="{BB962C8B-B14F-4D97-AF65-F5344CB8AC3E}">
        <p14:creationId xmlns:p14="http://schemas.microsoft.com/office/powerpoint/2010/main" val="898477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5859-3F4C-D8DD-CE15-FCD60E9FE4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F7834B0-F418-3C39-D0AB-556B1B3F258C}"/>
              </a:ext>
            </a:extLst>
          </p:cNvPr>
          <p:cNvSpPr txBox="1"/>
          <p:nvPr/>
        </p:nvSpPr>
        <p:spPr>
          <a:xfrm>
            <a:off x="488805" y="30480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9176574-2FD3-0181-FFC0-5C16D394C2C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042C0391-91E7-F973-F63A-AFD586103854}"/>
              </a:ext>
            </a:extLst>
          </p:cNvPr>
          <p:cNvSpPr txBox="1"/>
          <p:nvPr/>
        </p:nvSpPr>
        <p:spPr>
          <a:xfrm>
            <a:off x="488806" y="1386258"/>
            <a:ext cx="6295452" cy="5139869"/>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Flask-based Inference Endpoint: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A lightweight Flask API was developed to serve the trained machine learning model. It handles incoming data requests, performs preprocessing, and returns predictions in real time.</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Real-time Predictions via REST API: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The Flask API exposes endpoints (e.g., /predict) that can be accessed through HTTP POST requests. This allows external systems or applications to send data and instantly receive model inferences.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Deployment on Docker Container: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Both the Flask backend and </a:t>
            </a:r>
            <a:r>
              <a:rPr kumimoji="0" lang="en-US" sz="2000" b="0" i="0" u="none" strike="noStrike" kern="1200" cap="none" spc="0" normalizeH="0" baseline="0" noProof="0" dirty="0" err="1">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Streamlit</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 frontend are containerized using Docker. The environment, dependencies, and services are encapsulated within the container, ensuring platform independence, scalability, and easy deployment on any host or cloud platform.</a:t>
            </a:r>
          </a:p>
        </p:txBody>
      </p:sp>
      <p:pic>
        <p:nvPicPr>
          <p:cNvPr id="7" name="Picture 6">
            <a:extLst>
              <a:ext uri="{FF2B5EF4-FFF2-40B4-BE49-F238E27FC236}">
                <a16:creationId xmlns:a16="http://schemas.microsoft.com/office/drawing/2014/main" id="{D1D507FC-1B82-FB03-A93A-C868F4245A40}"/>
              </a:ext>
            </a:extLst>
          </p:cNvPr>
          <p:cNvPicPr>
            <a:picLocks noChangeAspect="1"/>
          </p:cNvPicPr>
          <p:nvPr/>
        </p:nvPicPr>
        <p:blipFill>
          <a:blip r:embed="rId3"/>
          <a:stretch>
            <a:fillRect/>
          </a:stretch>
        </p:blipFill>
        <p:spPr>
          <a:xfrm>
            <a:off x="6577781" y="1826342"/>
            <a:ext cx="5476568" cy="3205316"/>
          </a:xfrm>
          <a:prstGeom prst="rect">
            <a:avLst/>
          </a:prstGeom>
        </p:spPr>
      </p:pic>
    </p:spTree>
    <p:extLst>
      <p:ext uri="{BB962C8B-B14F-4D97-AF65-F5344CB8AC3E}">
        <p14:creationId xmlns:p14="http://schemas.microsoft.com/office/powerpoint/2010/main" val="12861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ADC14-24A4-83A3-80F3-7EB7CF454A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A9192C-DD60-DC37-1D2D-65A5FB6C01AE}"/>
              </a:ext>
            </a:extLst>
          </p:cNvPr>
          <p:cNvSpPr txBox="1"/>
          <p:nvPr/>
        </p:nvSpPr>
        <p:spPr>
          <a:xfrm>
            <a:off x="381000" y="507064"/>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C266F1F-149E-98DD-8A5C-0CEFFD4D521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ACFBEFC0-E3E8-53D3-D03B-A1D3BE15D037}"/>
              </a:ext>
            </a:extLst>
          </p:cNvPr>
          <p:cNvSpPr txBox="1"/>
          <p:nvPr/>
        </p:nvSpPr>
        <p:spPr>
          <a:xfrm>
            <a:off x="381000" y="1533130"/>
            <a:ext cx="11056751"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Successfully built and deployed a Linear Regression model for predicting manufacturing 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Achieved an R² of </a:t>
            </a:r>
            <a:r>
              <a:rPr lang="en-US" sz="2400" dirty="0">
                <a:highlight>
                  <a:srgbClr val="FFFF00"/>
                </a:highlight>
                <a:latin typeface="Times New Roman" panose="02020603050405020304" pitchFamily="18" charset="0"/>
                <a:cs typeface="Times New Roman" panose="02020603050405020304" pitchFamily="18" charset="0"/>
              </a:rPr>
              <a:t>0.9061</a:t>
            </a:r>
            <a:r>
              <a:rPr lang="en-US" sz="2400" dirty="0">
                <a:latin typeface="Times New Roman" panose="02020603050405020304" pitchFamily="18" charset="0"/>
                <a:cs typeface="Times New Roman" panose="02020603050405020304" pitchFamily="18" charset="0"/>
              </a:rPr>
              <a:t> (after Lasso fine-tuning), indicating strong predictive performance.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Identified key factors: Cycle Time, Efficiency Score, Material Grade, and Shift.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model enables real-time production optimization and anomaly detection.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Future scope: Explore non-linear models and integrate with internal dashboards for seamless use</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7615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4D34-C2E1-C9C0-E176-2E6A147A37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A228EE-FED1-835D-6A31-D4A60C3188B4}"/>
              </a:ext>
            </a:extLst>
          </p:cNvPr>
          <p:cNvSpPr txBox="1"/>
          <p:nvPr/>
        </p:nvSpPr>
        <p:spPr>
          <a:xfrm>
            <a:off x="1023257" y="2490281"/>
            <a:ext cx="10384971" cy="1877437"/>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pPr algn="ctr"/>
            <a:r>
              <a:rPr lang="en-IN" sz="8000" dirty="0">
                <a:solidFill>
                  <a:schemeClr val="accent1">
                    <a:lumMod val="75000"/>
                  </a:schemeClr>
                </a:solidFill>
                <a:latin typeface="Times New Roman" panose="02020603050405020304" pitchFamily="18" charset="0"/>
                <a:cs typeface="Times New Roman" panose="02020603050405020304" pitchFamily="18" charset="0"/>
              </a:rPr>
              <a:t>Any Queries ???</a:t>
            </a:r>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6D9250A-B516-92CD-8809-B1DD666EA915}"/>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965714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997</TotalTime>
  <Words>1079</Words>
  <Application>Microsoft Office PowerPoint</Application>
  <PresentationFormat>Widescreen</PresentationFormat>
  <Paragraphs>122</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Anantason Bold</vt:lpstr>
      <vt:lpstr>Arial</vt:lpstr>
      <vt:lpstr>Calibri</vt:lpstr>
      <vt:lpstr>Calibri Light</vt:lpstr>
      <vt:lpstr>Times New Roman</vt:lpstr>
      <vt:lpstr>Office Theme</vt:lpstr>
      <vt:lpstr>     Capstone Project1  MANUFACTURING  EQUIPMENT  OUTPUT PREDICTION  WITH  LINEAR  REGRESSION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Project1  MANUFACTURING  EQUIPMENT  OUTPUT PREDICTION  WITH  LINEAR  REGRESSION</dc:title>
  <dc:creator>TNS INDIA FOUNDATION</dc:creator>
  <cp:lastModifiedBy>Sudarshan gowda</cp:lastModifiedBy>
  <cp:revision>9</cp:revision>
  <dcterms:created xsi:type="dcterms:W3CDTF">2025-09-02T04:26:51Z</dcterms:created>
  <dcterms:modified xsi:type="dcterms:W3CDTF">2025-10-29T07:54:27Z</dcterms:modified>
</cp:coreProperties>
</file>